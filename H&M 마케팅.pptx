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6858000" cy="9144000"/>
  <p:embeddedFontLst>
    <p:embeddedFont>
      <p:font typeface="Noto Serif Display" charset="1" panose="02020502080505020204"/>
      <p:regular r:id="rId59"/>
    </p:embeddedFont>
    <p:embeddedFont>
      <p:font typeface="Noto Serif Display ExtraCondensed Bold" charset="1" panose="02020806080505020204"/>
      <p:regular r:id="rId60"/>
    </p:embeddedFont>
    <p:embeddedFont>
      <p:font typeface="Montserrat Bold" charset="1" panose="00000800000000000000"/>
      <p:regular r:id="rId61"/>
    </p:embeddedFont>
    <p:embeddedFont>
      <p:font typeface="Montserrat Bold Italics" charset="1" panose="00000800000000000000"/>
      <p:regular r:id="rId62"/>
    </p:embeddedFont>
    <p:embeddedFont>
      <p:font typeface="Montserrat" charset="1" panose="00000500000000000000"/>
      <p:regular r:id="rId63"/>
    </p:embeddedFont>
    <p:embeddedFont>
      <p:font typeface="Radley" charset="1" panose="0000050000000000000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7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9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2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0.png" Type="http://schemas.openxmlformats.org/officeDocument/2006/relationships/image"/><Relationship Id="rId6" Target="../media/image19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80414">
            <a:off x="11817595" y="3295890"/>
            <a:ext cx="7615809" cy="8229600"/>
          </a:xfrm>
          <a:custGeom>
            <a:avLst/>
            <a:gdLst/>
            <a:ahLst/>
            <a:cxnLst/>
            <a:rect r="r" b="b" t="t" l="l"/>
            <a:pathLst>
              <a:path h="8229600" w="7615809">
                <a:moveTo>
                  <a:pt x="0" y="0"/>
                </a:moveTo>
                <a:lnTo>
                  <a:pt x="7615809" y="0"/>
                </a:lnTo>
                <a:lnTo>
                  <a:pt x="761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65611" y="-433593"/>
            <a:ext cx="7634836" cy="11567934"/>
            <a:chOff x="0" y="0"/>
            <a:chExt cx="10179782" cy="15423912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-2622065" y="2622065"/>
              <a:ext cx="15423912" cy="10179782"/>
              <a:chOff x="0" y="0"/>
              <a:chExt cx="635000" cy="419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635000">
                    <a:moveTo>
                      <a:pt x="13071" y="0"/>
                    </a:moveTo>
                    <a:lnTo>
                      <a:pt x="621929" y="0"/>
                    </a:lnTo>
                    <a:cubicBezTo>
                      <a:pt x="625395" y="0"/>
                      <a:pt x="628720" y="1377"/>
                      <a:pt x="631171" y="3829"/>
                    </a:cubicBezTo>
                    <a:cubicBezTo>
                      <a:pt x="633623" y="6280"/>
                      <a:pt x="635000" y="9605"/>
                      <a:pt x="635000" y="13071"/>
                    </a:cubicBezTo>
                    <a:lnTo>
                      <a:pt x="635000" y="406029"/>
                    </a:lnTo>
                    <a:cubicBezTo>
                      <a:pt x="635000" y="409495"/>
                      <a:pt x="633623" y="412820"/>
                      <a:pt x="631171" y="415271"/>
                    </a:cubicBezTo>
                    <a:cubicBezTo>
                      <a:pt x="628720" y="417723"/>
                      <a:pt x="625395" y="419100"/>
                      <a:pt x="621929" y="419100"/>
                    </a:cubicBezTo>
                    <a:lnTo>
                      <a:pt x="13071" y="419100"/>
                    </a:lnTo>
                    <a:cubicBezTo>
                      <a:pt x="9605" y="419100"/>
                      <a:pt x="6280" y="417723"/>
                      <a:pt x="3829" y="415271"/>
                    </a:cubicBezTo>
                    <a:cubicBezTo>
                      <a:pt x="1377" y="412820"/>
                      <a:pt x="0" y="409495"/>
                      <a:pt x="0" y="406029"/>
                    </a:cubicBezTo>
                    <a:lnTo>
                      <a:pt x="0" y="13071"/>
                    </a:lnTo>
                    <a:cubicBezTo>
                      <a:pt x="0" y="9605"/>
                      <a:pt x="1377" y="6280"/>
                      <a:pt x="3829" y="3829"/>
                    </a:cubicBezTo>
                    <a:cubicBezTo>
                      <a:pt x="6280" y="1377"/>
                      <a:pt x="9605" y="0"/>
                      <a:pt x="13071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321782" y="578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21782" y="7436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44439" y="46183"/>
            <a:ext cx="5743335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0"/>
              </a:lnSpc>
              <a:spcBef>
                <a:spcPct val="0"/>
              </a:spcBef>
            </a:pPr>
            <a:r>
              <a:rPr lang="en-US" sz="15000" spc="-450">
                <a:solidFill>
                  <a:srgbClr val="791401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H&amp;m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669225" y="1370038"/>
            <a:ext cx="14827198" cy="3023338"/>
            <a:chOff x="0" y="0"/>
            <a:chExt cx="19769598" cy="403111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6992354" y="-133350"/>
              <a:ext cx="12777244" cy="154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99"/>
                </a:lnSpc>
                <a:spcBef>
                  <a:spcPct val="0"/>
                </a:spcBef>
              </a:pPr>
              <a:r>
                <a:rPr lang="en-US" b="true" sz="6999" spc="-209">
                  <a:solidFill>
                    <a:srgbClr val="2A2D2C"/>
                  </a:solidFill>
                  <a:latin typeface="Noto Serif Display ExtraCondensed Bold"/>
                  <a:ea typeface="Noto Serif Display ExtraCondensed Bold"/>
                  <a:cs typeface="Noto Serif Display ExtraCondensed Bold"/>
                  <a:sym typeface="Noto Serif Display ExtraCondensed Bold"/>
                </a:rPr>
                <a:t>Fashion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20209"/>
              <a:ext cx="17830647" cy="1810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미래 매출 가치를 중심으로 한 </a:t>
              </a:r>
              <a:r>
                <a:rPr lang="en-US" b="true" sz="3999">
                  <a:solidFill>
                    <a:srgbClr val="7914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Expected Loss</a:t>
              </a:r>
              <a:r>
                <a:rPr lang="en-US" b="true" sz="39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3999">
                  <a:solidFill>
                    <a:srgbClr val="79140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Score</a:t>
              </a:r>
              <a:r>
                <a:rPr lang="en-US" b="true" sz="39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기반 </a:t>
              </a:r>
              <a:r>
                <a:rPr lang="en-US" b="true" sz="39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고객 가치 산정 및 타겟팅 전략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295534" y="2594455"/>
            <a:ext cx="8969307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35789" y="5969236"/>
            <a:ext cx="5026534" cy="2843869"/>
          </a:xfrm>
          <a:custGeom>
            <a:avLst/>
            <a:gdLst/>
            <a:ahLst/>
            <a:cxnLst/>
            <a:rect r="r" b="b" t="t" l="l"/>
            <a:pathLst>
              <a:path h="2843869" w="5026534">
                <a:moveTo>
                  <a:pt x="0" y="0"/>
                </a:moveTo>
                <a:lnTo>
                  <a:pt x="5026534" y="0"/>
                </a:lnTo>
                <a:lnTo>
                  <a:pt x="5026534" y="2843870"/>
                </a:lnTo>
                <a:lnTo>
                  <a:pt x="0" y="2843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302" r="0" b="-1830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30652" y="6806479"/>
            <a:ext cx="636808" cy="420293"/>
          </a:xfrm>
          <a:custGeom>
            <a:avLst/>
            <a:gdLst/>
            <a:ahLst/>
            <a:cxnLst/>
            <a:rect r="r" b="b" t="t" l="l"/>
            <a:pathLst>
              <a:path h="420293" w="636808">
                <a:moveTo>
                  <a:pt x="0" y="0"/>
                </a:moveTo>
                <a:lnTo>
                  <a:pt x="636808" y="0"/>
                </a:lnTo>
                <a:lnTo>
                  <a:pt x="636808" y="420293"/>
                </a:lnTo>
                <a:lnTo>
                  <a:pt x="0" y="420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목차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005901"/>
            <a:ext cx="7640711" cy="142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b="true" sz="2400" i="true">
                <a:solidFill>
                  <a:srgbClr val="791401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H&amp;M </a:t>
            </a:r>
            <a:r>
              <a:rPr lang="en-US" sz="24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(Hennes &amp; Mauritz)은 스웨덴에 본사를 둔 글로벌 패션 리테일 기업으로, 합리적인 가격과 </a:t>
            </a:r>
            <a:r>
              <a:rPr lang="en-US" sz="2400" b="true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지속 가능성</a:t>
            </a:r>
            <a:r>
              <a:rPr lang="en-US" sz="24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을 바탕으로 전 세계에 패션을 제공하는 글로벌 리테일 브랜드이다.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440537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42600" y="2693506"/>
            <a:ext cx="6250129" cy="5990526"/>
            <a:chOff x="0" y="0"/>
            <a:chExt cx="8333506" cy="798736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210733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전처리 &amp; EDA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709578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군집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952852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분류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449734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대시보드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데이터셋 소개 &amp; 문제 정의 &amp; 주제 선정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459567"/>
              <a:ext cx="8333506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스냅샷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942600" y="7353071"/>
            <a:ext cx="625012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회귀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64824" y="2424091"/>
            <a:ext cx="861337" cy="7388021"/>
            <a:chOff x="0" y="0"/>
            <a:chExt cx="1148450" cy="985069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148450" cy="1148450"/>
              <a:chOff x="0" y="0"/>
              <a:chExt cx="182299" cy="1822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243274"/>
              <a:ext cx="1148450" cy="1148450"/>
              <a:chOff x="0" y="0"/>
              <a:chExt cx="182299" cy="18229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2486547"/>
              <a:ext cx="1148450" cy="1148450"/>
              <a:chOff x="0" y="0"/>
              <a:chExt cx="182299" cy="18229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3729821"/>
              <a:ext cx="1148450" cy="1148450"/>
              <a:chOff x="0" y="0"/>
              <a:chExt cx="182299" cy="18229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4973094"/>
              <a:ext cx="1148450" cy="1148450"/>
              <a:chOff x="0" y="0"/>
              <a:chExt cx="182299" cy="18229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6216368"/>
              <a:ext cx="1148450" cy="1148450"/>
              <a:chOff x="0" y="0"/>
              <a:chExt cx="182299" cy="18229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7464895"/>
              <a:ext cx="1148450" cy="1148450"/>
              <a:chOff x="0" y="0"/>
              <a:chExt cx="182299" cy="18229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8702245"/>
              <a:ext cx="1148450" cy="1148450"/>
              <a:chOff x="0" y="0"/>
              <a:chExt cx="182299" cy="18229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82299" cy="182299"/>
              </a:xfrm>
              <a:custGeom>
                <a:avLst/>
                <a:gdLst/>
                <a:ahLst/>
                <a:cxnLst/>
                <a:rect r="r" b="b" t="t" l="l"/>
                <a:pathLst>
                  <a:path h="182299" w="182299">
                    <a:moveTo>
                      <a:pt x="0" y="0"/>
                    </a:moveTo>
                    <a:lnTo>
                      <a:pt x="182299" y="0"/>
                    </a:lnTo>
                    <a:lnTo>
                      <a:pt x="182299" y="182299"/>
                    </a:lnTo>
                    <a:lnTo>
                      <a:pt x="0" y="182299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82299" cy="220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</a:t>
                </a:r>
              </a:p>
            </p:txBody>
          </p:sp>
        </p:grpSp>
      </p:grpSp>
      <p:sp>
        <p:nvSpPr>
          <p:cNvPr name="TextBox 49" id="49"/>
          <p:cNvSpPr txBox="true"/>
          <p:nvPr/>
        </p:nvSpPr>
        <p:spPr>
          <a:xfrm rot="0">
            <a:off x="10942600" y="9112657"/>
            <a:ext cx="625012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인사이트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5189144"/>
            <a:ext cx="8223357" cy="1917424"/>
            <a:chOff x="0" y="0"/>
            <a:chExt cx="10964476" cy="255656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61925"/>
              <a:ext cx="5327667" cy="2718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3390" indent="-226695" lvl="1">
                <a:lnSpc>
                  <a:spcPts val="42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articles.csv</a:t>
              </a:r>
            </a:p>
            <a:p>
              <a:pPr algn="just" marL="453390" indent="-226695" lvl="1">
                <a:lnSpc>
                  <a:spcPts val="42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customer.csv</a:t>
              </a:r>
            </a:p>
            <a:p>
              <a:pPr algn="just" marL="453390" indent="-226695" lvl="1">
                <a:lnSpc>
                  <a:spcPts val="42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transactions_train.csv</a:t>
              </a:r>
            </a:p>
            <a:p>
              <a:pPr algn="just">
                <a:lnSpc>
                  <a:spcPts val="422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667825" y="-161925"/>
              <a:ext cx="5296651" cy="2718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상품 정보</a:t>
              </a:r>
            </a:p>
            <a:p>
              <a:pPr algn="just">
                <a:lnSpc>
                  <a:spcPts val="42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고객 정보</a:t>
              </a:r>
            </a:p>
            <a:p>
              <a:pPr algn="just">
                <a:lnSpc>
                  <a:spcPts val="422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고객 구매 이력</a:t>
              </a:r>
            </a:p>
            <a:p>
              <a:pPr algn="just">
                <a:lnSpc>
                  <a:spcPts val="42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422809" y="-5032175"/>
            <a:ext cx="26316990" cy="7261950"/>
            <a:chOff x="0" y="0"/>
            <a:chExt cx="35089320" cy="9682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데이터셋 소개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H&amp;M Personalized Fashion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00932" y="4606606"/>
            <a:ext cx="8608000" cy="2839963"/>
            <a:chOff x="0" y="0"/>
            <a:chExt cx="11477334" cy="3786618"/>
          </a:xfrm>
        </p:grpSpPr>
        <p:sp>
          <p:nvSpPr>
            <p:cNvPr name="AutoShape 19" id="19"/>
            <p:cNvSpPr/>
            <p:nvPr/>
          </p:nvSpPr>
          <p:spPr>
            <a:xfrm>
              <a:off x="2307" y="5916"/>
              <a:ext cx="2828643" cy="1103294"/>
            </a:xfrm>
            <a:prstGeom prst="line">
              <a:avLst/>
            </a:prstGeom>
            <a:ln cap="flat" w="12700">
              <a:solidFill>
                <a:srgbClr val="2A2A2A"/>
              </a:solidFill>
              <a:prstDash val="solid"/>
              <a:headEnd type="none" len="sm" w="sm"/>
              <a:tailEnd type="none" len="sm" w="sm"/>
            </a:ln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0" y="0"/>
          <a:ext cx="8608000" cy="2839963"/>
        </p:xfrm>
        <a:graphic>
          <a:graphicData uri="http://schemas.openxmlformats.org/drawingml/2006/table">
            <a:tbl>
              <a:tblPr/>
              <a:tblGrid>
                <a:gridCol w="2125301"/>
                <a:gridCol w="2125301"/>
                <a:gridCol w="2125301"/>
                <a:gridCol w="2232099"/>
              </a:tblGrid>
              <a:tr h="83286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articles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customer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transactions_train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100354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105,542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1,371,980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31,788,324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54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0" id="20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문제 정의 &amp; 주제 선정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7348" y="2678657"/>
            <a:ext cx="16371909" cy="761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4"/>
              </a:lnSpc>
            </a:pPr>
          </a:p>
          <a:p>
            <a:pPr algn="just">
              <a:lnSpc>
                <a:spcPts val="2399"/>
              </a:lnSpc>
            </a:pP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모든 이탈 고객이 동일한 비즈니스 손실을 유발하지 않기 때문에,</a:t>
            </a: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제한된 마케팅 자원 하에서 기존 고객 유지 비용의 효율성을 유지하며</a:t>
            </a: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이탈 가능성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뿐만 아니라 고객의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미래 매출 기여도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를 함께 고려한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고객 관리 기준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 필요. </a:t>
            </a:r>
          </a:p>
          <a:p>
            <a:pPr algn="ctr">
              <a:lnSpc>
                <a:spcPts val="5024"/>
              </a:lnSpc>
            </a:pPr>
          </a:p>
          <a:p>
            <a:pPr algn="ctr">
              <a:lnSpc>
                <a:spcPts val="4374"/>
              </a:lnSpc>
            </a:pPr>
          </a:p>
          <a:p>
            <a:pPr algn="ctr">
              <a:lnSpc>
                <a:spcPts val="4374"/>
              </a:lnSpc>
            </a:pP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고객의 구매 행동 데이터를 기반으로 이탈 확률과 미래 예상 매출을 결합한 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Loss score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를 정의하고, </a:t>
            </a:r>
          </a:p>
          <a:p>
            <a:pPr algn="ctr">
              <a:lnSpc>
                <a:spcPts val="5024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손실 기여도가 높은 </a:t>
            </a: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상위 30% 고객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을 선별하여 </a:t>
            </a: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고객의 가치를 상향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시키기 위한 군집 기반 전략을 도출.</a:t>
            </a:r>
          </a:p>
          <a:p>
            <a:pPr algn="just">
              <a:lnSpc>
                <a:spcPts val="5024"/>
              </a:lnSpc>
            </a:pPr>
          </a:p>
          <a:p>
            <a:pPr algn="just">
              <a:lnSpc>
                <a:spcPts val="502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453873" y="5534885"/>
            <a:ext cx="2233022" cy="549882"/>
          </a:xfrm>
          <a:custGeom>
            <a:avLst/>
            <a:gdLst/>
            <a:ahLst/>
            <a:cxnLst/>
            <a:rect r="r" b="b" t="t" l="l"/>
            <a:pathLst>
              <a:path h="549882" w="2233022">
                <a:moveTo>
                  <a:pt x="0" y="0"/>
                </a:moveTo>
                <a:lnTo>
                  <a:pt x="2233022" y="0"/>
                </a:lnTo>
                <a:lnTo>
                  <a:pt x="2233022" y="549882"/>
                </a:lnTo>
                <a:lnTo>
                  <a:pt x="0" y="54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5400000">
            <a:off x="8482379" y="6912483"/>
            <a:ext cx="1038977" cy="381824"/>
          </a:xfrm>
          <a:custGeom>
            <a:avLst/>
            <a:gdLst/>
            <a:ahLst/>
            <a:cxnLst/>
            <a:rect r="r" b="b" t="t" l="l"/>
            <a:pathLst>
              <a:path h="381824" w="1038977">
                <a:moveTo>
                  <a:pt x="0" y="0"/>
                </a:moveTo>
                <a:lnTo>
                  <a:pt x="1038977" y="0"/>
                </a:lnTo>
                <a:lnTo>
                  <a:pt x="1038977" y="381825"/>
                </a:lnTo>
                <a:lnTo>
                  <a:pt x="0" y="381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63150" y="7769154"/>
            <a:ext cx="3594688" cy="885192"/>
          </a:xfrm>
          <a:custGeom>
            <a:avLst/>
            <a:gdLst/>
            <a:ahLst/>
            <a:cxnLst/>
            <a:rect r="r" b="b" t="t" l="l"/>
            <a:pathLst>
              <a:path h="885192" w="3594688">
                <a:moveTo>
                  <a:pt x="0" y="0"/>
                </a:moveTo>
                <a:lnTo>
                  <a:pt x="3594688" y="0"/>
                </a:lnTo>
                <a:lnTo>
                  <a:pt x="3594688" y="885192"/>
                </a:lnTo>
                <a:lnTo>
                  <a:pt x="0" y="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794" r="0" b="-3794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794" r="0" b="-379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주제 선정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6825" y="9237477"/>
            <a:ext cx="16371909" cy="45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092856" y="5934081"/>
            <a:ext cx="1497862" cy="550464"/>
          </a:xfrm>
          <a:custGeom>
            <a:avLst/>
            <a:gdLst/>
            <a:ahLst/>
            <a:cxnLst/>
            <a:rect r="r" b="b" t="t" l="l"/>
            <a:pathLst>
              <a:path h="550464" w="1497862">
                <a:moveTo>
                  <a:pt x="0" y="0"/>
                </a:moveTo>
                <a:lnTo>
                  <a:pt x="1497862" y="0"/>
                </a:lnTo>
                <a:lnTo>
                  <a:pt x="1497862" y="550464"/>
                </a:lnTo>
                <a:lnTo>
                  <a:pt x="0" y="55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94" r="0" b="-3794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794" r="0" b="-379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articles.csv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93754"/>
            <a:ext cx="11255588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사용 컬럼 : article_id,  product_type_name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분석 목적에 맞고 분석 효율을 위해 기존 ‘상품관련 카테고리 컬럼’ 재정의 후 모두 제거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5895" y="5551138"/>
            <a:ext cx="4670599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product_type_name는 131개의 고윳값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92080" y="5545738"/>
            <a:ext cx="7690523" cy="109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TOPS/ BOTTOMS/ DRESSES/ OUTERWEAR/ UNDERWEAR_SLEEP/ SPORTS_SWIM/ SHOES/ ACCESSORY/ OTHER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6842622"/>
            <a:ext cx="6968664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‘product_group’으로  재정의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384029"/>
            <a:ext cx="16371909" cy="75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product_type_name 왜 사용하는가? </a:t>
            </a:r>
          </a:p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로우데이터에는 대,중,소 분류로 구분 → but 분류가 과도하게 세분화되어 있음 확인 → 각 컬럼마다 아랫 단계의 분류를 확인 비교 → 분류 기준에 맞는 컬럼을 선정하여 대그룹으로 재분류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customer.csv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93791"/>
            <a:ext cx="9930371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사용 컬럼 : customer_id, club_member_status, fashion_news_frequency, age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분석 목적에 맞지 않고, 결측이 큰 컬럼 제거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7242524"/>
            <a:ext cx="6914439" cy="1133040"/>
            <a:chOff x="0" y="0"/>
            <a:chExt cx="9219252" cy="151072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5263059" cy="14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결측치 처리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club_member_status 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fashion_news_frequency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475977" y="553041"/>
              <a:ext cx="3743275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NON_MEMBER 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NONE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5375195"/>
            <a:ext cx="2848198" cy="109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구간화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 → 연령대별 구간화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‘age_group’으로 재정의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transactions_train.csv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93791"/>
            <a:ext cx="8233730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사용 컬럼 : t_dat, customer_id, article_id, price, sales_channel_id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분석 목적에 맞아 모든 컬럼 사용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376479"/>
            <a:ext cx="3583409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형 변환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t_dat → datetime으로 형 변환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H&amp;M Personalized Fashion Data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28700" y="4645463"/>
          <a:ext cx="7082966" cy="2762250"/>
        </p:xfrm>
        <a:graphic>
          <a:graphicData uri="http://schemas.openxmlformats.org/drawingml/2006/table">
            <a:tbl>
              <a:tblPr/>
              <a:tblGrid>
                <a:gridCol w="1748772"/>
                <a:gridCol w="1748772"/>
                <a:gridCol w="1748772"/>
                <a:gridCol w="1836649"/>
              </a:tblGrid>
              <a:tr h="111828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articles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customer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transactions_</a:t>
                      </a:r>
                      <a:endParaRPr lang="en-US" sz="1100"/>
                    </a:p>
                    <a:p>
                      <a:pPr algn="just">
                        <a:lnSpc>
                          <a:spcPts val="2800"/>
                        </a:lnSpc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train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105,542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1,371,980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31,788,324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0176334" y="4645463"/>
          <a:ext cx="7082966" cy="2762250"/>
        </p:xfrm>
        <a:graphic>
          <a:graphicData uri="http://schemas.openxmlformats.org/drawingml/2006/table">
            <a:tbl>
              <a:tblPr/>
              <a:tblGrid>
                <a:gridCol w="1748772"/>
                <a:gridCol w="1748772"/>
                <a:gridCol w="1748772"/>
                <a:gridCol w="1836649"/>
              </a:tblGrid>
              <a:tr h="111828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articles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customer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transactions_</a:t>
                      </a:r>
                      <a:endParaRPr lang="en-US" sz="1100"/>
                    </a:p>
                    <a:p>
                      <a:pPr algn="just">
                        <a:lnSpc>
                          <a:spcPts val="2800"/>
                        </a:lnSpc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train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105,542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137,1980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31,788,324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8292491" y="6109218"/>
            <a:ext cx="1497862" cy="550464"/>
          </a:xfrm>
          <a:custGeom>
            <a:avLst/>
            <a:gdLst/>
            <a:ahLst/>
            <a:cxnLst/>
            <a:rect r="r" b="b" t="t" l="l"/>
            <a:pathLst>
              <a:path h="550464" w="1497862">
                <a:moveTo>
                  <a:pt x="0" y="0"/>
                </a:moveTo>
                <a:lnTo>
                  <a:pt x="1497861" y="0"/>
                </a:lnTo>
                <a:lnTo>
                  <a:pt x="1497861" y="550464"/>
                </a:lnTo>
                <a:lnTo>
                  <a:pt x="0" y="550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1031271" y="4649900"/>
            <a:ext cx="1744310" cy="1118432"/>
          </a:xfrm>
          <a:prstGeom prst="line">
            <a:avLst/>
          </a:prstGeom>
          <a:ln cap="flat" w="9525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31271" y="4162963"/>
            <a:ext cx="1624636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78065" y="4162963"/>
            <a:ext cx="1624636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후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H&amp;M Personalized Fashion Data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4645463"/>
          <a:ext cx="7082966" cy="2762250"/>
        </p:xfrm>
        <a:graphic>
          <a:graphicData uri="http://schemas.openxmlformats.org/drawingml/2006/table">
            <a:tbl>
              <a:tblPr/>
              <a:tblGrid>
                <a:gridCol w="1748772"/>
                <a:gridCol w="1748772"/>
                <a:gridCol w="1748772"/>
                <a:gridCol w="1836649"/>
              </a:tblGrid>
              <a:tr h="111828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articles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customer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transactions_</a:t>
                      </a:r>
                      <a:endParaRPr lang="en-US" sz="1100"/>
                    </a:p>
                    <a:p>
                      <a:pPr algn="just">
                        <a:lnSpc>
                          <a:spcPts val="2800"/>
                        </a:lnSpc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train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105,542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1,371,980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31,788,324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8292491" y="6109218"/>
            <a:ext cx="1497862" cy="550464"/>
          </a:xfrm>
          <a:custGeom>
            <a:avLst/>
            <a:gdLst/>
            <a:ahLst/>
            <a:cxnLst/>
            <a:rect r="r" b="b" t="t" l="l"/>
            <a:pathLst>
              <a:path h="550464" w="1497862">
                <a:moveTo>
                  <a:pt x="0" y="0"/>
                </a:moveTo>
                <a:lnTo>
                  <a:pt x="1497861" y="0"/>
                </a:lnTo>
                <a:lnTo>
                  <a:pt x="1497861" y="550464"/>
                </a:lnTo>
                <a:lnTo>
                  <a:pt x="0" y="55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0178065" y="4649900"/>
            <a:ext cx="1744310" cy="1118432"/>
          </a:xfrm>
          <a:prstGeom prst="line">
            <a:avLst/>
          </a:prstGeom>
          <a:ln cap="flat" w="9525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31271" y="4649900"/>
            <a:ext cx="1744310" cy="1118432"/>
          </a:xfrm>
          <a:prstGeom prst="line">
            <a:avLst/>
          </a:prstGeom>
          <a:ln cap="flat" w="9525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31271" y="4162963"/>
            <a:ext cx="1624636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병합 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76334" y="4162963"/>
            <a:ext cx="1624636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병합 후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94" r="0" b="-3794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794" r="0" b="-3794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전처리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0176334" y="4645463"/>
          <a:ext cx="7082966" cy="2760092"/>
        </p:xfrm>
        <a:graphic>
          <a:graphicData uri="http://schemas.openxmlformats.org/drawingml/2006/table">
            <a:tbl>
              <a:tblPr/>
              <a:tblGrid>
                <a:gridCol w="1743623"/>
                <a:gridCol w="5339343"/>
              </a:tblGrid>
              <a:tr h="11161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df_merged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31,788,324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colums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3650394"/>
            <a:ext cx="7769792" cy="5361156"/>
          </a:xfrm>
          <a:custGeom>
            <a:avLst/>
            <a:gdLst/>
            <a:ahLst/>
            <a:cxnLst/>
            <a:rect r="r" b="b" t="t" l="l"/>
            <a:pathLst>
              <a:path h="5361156" w="7769792">
                <a:moveTo>
                  <a:pt x="0" y="0"/>
                </a:moveTo>
                <a:lnTo>
                  <a:pt x="7769792" y="0"/>
                </a:lnTo>
                <a:lnTo>
                  <a:pt x="7769792" y="5361156"/>
                </a:lnTo>
                <a:lnTo>
                  <a:pt x="0" y="53611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코호트 분석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3839370"/>
            <a:ext cx="7361743" cy="147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첫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구매 이후 1개월 차에 리텐션이 급격히 꺾임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2020년 하반기로 갈수록 초기 유지율이 10~15% 수준으로 악화되는 양상을 보임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340207" y="4712869"/>
            <a:ext cx="10060402" cy="3961283"/>
          </a:xfrm>
          <a:custGeom>
            <a:avLst/>
            <a:gdLst/>
            <a:ahLst/>
            <a:cxnLst/>
            <a:rect r="r" b="b" t="t" l="l"/>
            <a:pathLst>
              <a:path h="3961283" w="10060402">
                <a:moveTo>
                  <a:pt x="0" y="0"/>
                </a:moveTo>
                <a:lnTo>
                  <a:pt x="10060402" y="0"/>
                </a:lnTo>
                <a:lnTo>
                  <a:pt x="10060402" y="3961283"/>
                </a:lnTo>
                <a:lnTo>
                  <a:pt x="0" y="396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 및 이탈 고객 비율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39370"/>
            <a:ext cx="7914603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2020-06-22일 기준 과거 90일간 거래 없는 경우 이탈자로 지정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이탈 고객이 유지 고객보다 2배 정도 많음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Recency 분포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790352" y="3216341"/>
            <a:ext cx="7091086" cy="6137209"/>
          </a:xfrm>
          <a:custGeom>
            <a:avLst/>
            <a:gdLst/>
            <a:ahLst/>
            <a:cxnLst/>
            <a:rect r="r" b="b" t="t" l="l"/>
            <a:pathLst>
              <a:path h="6137209" w="7091086">
                <a:moveTo>
                  <a:pt x="0" y="0"/>
                </a:moveTo>
                <a:lnTo>
                  <a:pt x="7091086" y="0"/>
                </a:lnTo>
                <a:lnTo>
                  <a:pt x="7091086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3831777"/>
            <a:ext cx="7361743" cy="258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0일 이탈 기준이 왜 합리적인지, 언제 마케팅을 해야 효과적인지 수치로 증명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평균적으로 95일 정도 지나면 이탈 확률 상승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90일을 이탈 기준으로 삼으면, 고객이 완전히 떠나기 전 선제적으로 대응 가능하다고 판단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 및 이탈 고객 Frequency 평균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39370"/>
            <a:ext cx="9288187" cy="147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이탈 고객의 빈도가 2.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56회라는 것은, 단순 체험 단계를 벗어나지 못했음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고객은 이탈 고객보다 약 4.4배 더 자주 구매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913808" y="3362256"/>
            <a:ext cx="6924076" cy="5949531"/>
          </a:xfrm>
          <a:custGeom>
            <a:avLst/>
            <a:gdLst/>
            <a:ahLst/>
            <a:cxnLst/>
            <a:rect r="r" b="b" t="t" l="l"/>
            <a:pathLst>
              <a:path h="5949531" w="6924076">
                <a:moveTo>
                  <a:pt x="0" y="0"/>
                </a:moveTo>
                <a:lnTo>
                  <a:pt x="6924076" y="0"/>
                </a:lnTo>
                <a:lnTo>
                  <a:pt x="6924076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2177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360238" y="3510601"/>
            <a:ext cx="3303896" cy="5326690"/>
          </a:xfrm>
          <a:custGeom>
            <a:avLst/>
            <a:gdLst/>
            <a:ahLst/>
            <a:cxnLst/>
            <a:rect r="r" b="b" t="t" l="l"/>
            <a:pathLst>
              <a:path h="5326690" w="3303896">
                <a:moveTo>
                  <a:pt x="0" y="0"/>
                </a:moveTo>
                <a:lnTo>
                  <a:pt x="3303897" y="0"/>
                </a:lnTo>
                <a:lnTo>
                  <a:pt x="3303897" y="5326689"/>
                </a:lnTo>
                <a:lnTo>
                  <a:pt x="0" y="53266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 및 이탈 고객 Monetary 평균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39370"/>
            <a:ext cx="7361743" cy="184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고객의 매출은 이탈 고객보다 약 4배 높음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하지만 이탈 고객 중에서도 고액 사용자가 존재함 (평균의 함정)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60705" y="3993797"/>
            <a:ext cx="5908239" cy="4900874"/>
          </a:xfrm>
          <a:custGeom>
            <a:avLst/>
            <a:gdLst/>
            <a:ahLst/>
            <a:cxnLst/>
            <a:rect r="r" b="b" t="t" l="l"/>
            <a:pathLst>
              <a:path h="4900874" w="5908239">
                <a:moveTo>
                  <a:pt x="0" y="0"/>
                </a:moveTo>
                <a:lnTo>
                  <a:pt x="5908240" y="0"/>
                </a:lnTo>
                <a:lnTo>
                  <a:pt x="5908240" y="4900874"/>
                </a:lnTo>
                <a:lnTo>
                  <a:pt x="0" y="4900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6024" t="0" r="0" b="-434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 및 이탈 고객 Diversity 평균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39370"/>
            <a:ext cx="7361743" cy="184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유지 고객은 평균 3개에 가까운 다양한 카테고리를 경험하지만, 이탈 고객은 1개 미만 카테고리만 구매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879958" y="3362256"/>
            <a:ext cx="6957926" cy="5949531"/>
          </a:xfrm>
          <a:custGeom>
            <a:avLst/>
            <a:gdLst/>
            <a:ahLst/>
            <a:cxnLst/>
            <a:rect r="r" b="b" t="t" l="l"/>
            <a:pathLst>
              <a:path h="5949531" w="6957926">
                <a:moveTo>
                  <a:pt x="0" y="0"/>
                </a:moveTo>
                <a:lnTo>
                  <a:pt x="6957926" y="0"/>
                </a:lnTo>
                <a:lnTo>
                  <a:pt x="6957926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EDA Summary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3877470"/>
            <a:ext cx="7996060" cy="2547245"/>
            <a:chOff x="0" y="0"/>
            <a:chExt cx="10661413" cy="339632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10661413" cy="3434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요약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결론적으로 RFMD가 이탈에 영향을 줄 것으로 판단되어 머신러닝 (군집, 분류, 회귀) 모델의 x 피처로 행동 패턴 분석에 유의미하게 사용할 것이다.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98768" y="1940452"/>
              <a:ext cx="7088684" cy="14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 EDA 결과로 90일을 이탈 기준으로 세우고,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이를 기준으로 스냅샷 프로세스 구축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315450"/>
            <a:ext cx="16371909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2020.06.22일이 기준이 되는 이유는 이탈 기준이 90일 이므로, 최소한 스냅샷 이후 90일이 남아있어야 하기 때문이다.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422809" y="-5032175"/>
            <a:ext cx="26316990" cy="7261950"/>
            <a:chOff x="0" y="0"/>
            <a:chExt cx="35089320" cy="9682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스냅샷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Snapshot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784613"/>
            <a:ext cx="6218259" cy="13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스냅샷 기준: 2020.06.22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훈련 데이터: 2019.12.22 - 2020.06.21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확인 데이터: 2020.06.22 - 2020.09.22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832831"/>
            <a:ext cx="12811258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스냅샷 : 기준 시점 이전의 거래 데이터만 사용하여 미래 정보 누수(Data Leakage) 방지하는 작업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06969" y="4468292"/>
            <a:ext cx="6064896" cy="3875048"/>
            <a:chOff x="0" y="0"/>
            <a:chExt cx="8086528" cy="5166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30481" y="221848"/>
              <a:ext cx="5556047" cy="4944882"/>
            </a:xfrm>
            <a:custGeom>
              <a:avLst/>
              <a:gdLst/>
              <a:ahLst/>
              <a:cxnLst/>
              <a:rect r="r" b="b" t="t" l="l"/>
              <a:pathLst>
                <a:path h="4944882" w="5556047">
                  <a:moveTo>
                    <a:pt x="0" y="0"/>
                  </a:moveTo>
                  <a:lnTo>
                    <a:pt x="5556047" y="0"/>
                  </a:lnTo>
                  <a:lnTo>
                    <a:pt x="5556047" y="4944882"/>
                  </a:lnTo>
                  <a:lnTo>
                    <a:pt x="0" y="4944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221848"/>
              <a:ext cx="5556047" cy="4944882"/>
            </a:xfrm>
            <a:custGeom>
              <a:avLst/>
              <a:gdLst/>
              <a:ahLst/>
              <a:cxnLst/>
              <a:rect r="r" b="b" t="t" l="l"/>
              <a:pathLst>
                <a:path h="4944882" w="5556047">
                  <a:moveTo>
                    <a:pt x="0" y="0"/>
                  </a:moveTo>
                  <a:lnTo>
                    <a:pt x="5556047" y="0"/>
                  </a:lnTo>
                  <a:lnTo>
                    <a:pt x="5556047" y="4944882"/>
                  </a:lnTo>
                  <a:lnTo>
                    <a:pt x="0" y="4944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-662033">
              <a:off x="6990108" y="31151"/>
              <a:ext cx="494641" cy="1750943"/>
            </a:xfrm>
            <a:custGeom>
              <a:avLst/>
              <a:gdLst/>
              <a:ahLst/>
              <a:cxnLst/>
              <a:rect r="r" b="b" t="t" l="l"/>
              <a:pathLst>
                <a:path h="1750943" w="494641">
                  <a:moveTo>
                    <a:pt x="0" y="0"/>
                  </a:moveTo>
                  <a:lnTo>
                    <a:pt x="494642" y="0"/>
                  </a:lnTo>
                  <a:lnTo>
                    <a:pt x="494642" y="1750943"/>
                  </a:lnTo>
                  <a:lnTo>
                    <a:pt x="0" y="175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5104608">
              <a:off x="31155" y="3852916"/>
              <a:ext cx="1284600" cy="1241244"/>
            </a:xfrm>
            <a:custGeom>
              <a:avLst/>
              <a:gdLst/>
              <a:ahLst/>
              <a:cxnLst/>
              <a:rect r="r" b="b" t="t" l="l"/>
              <a:pathLst>
                <a:path h="1241244" w="1284600">
                  <a:moveTo>
                    <a:pt x="0" y="0"/>
                  </a:moveTo>
                  <a:lnTo>
                    <a:pt x="1284600" y="0"/>
                  </a:lnTo>
                  <a:lnTo>
                    <a:pt x="1284600" y="1241244"/>
                  </a:lnTo>
                  <a:lnTo>
                    <a:pt x="0" y="124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332380" y="4884617"/>
            <a:ext cx="5507696" cy="300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파생 변수 (RFMD)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ecency :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마지막 구매일로부터 경과 일수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requency_6m : 최근 6개월 구매 횟수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onetary_6m : 최근 6개월 총 구매 금액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iversity_6m : 최근 6개월 구매 카테고리 수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456">
            <a:off x="11428388" y="3411641"/>
            <a:ext cx="7615809" cy="8229600"/>
          </a:xfrm>
          <a:custGeom>
            <a:avLst/>
            <a:gdLst/>
            <a:ahLst/>
            <a:cxnLst/>
            <a:rect r="r" b="b" t="t" l="l"/>
            <a:pathLst>
              <a:path h="8229600" w="7615809">
                <a:moveTo>
                  <a:pt x="0" y="0"/>
                </a:moveTo>
                <a:lnTo>
                  <a:pt x="7615809" y="0"/>
                </a:lnTo>
                <a:lnTo>
                  <a:pt x="761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65611" y="-433593"/>
            <a:ext cx="7634836" cy="11567934"/>
            <a:chOff x="0" y="0"/>
            <a:chExt cx="10179782" cy="15423912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-2622065" y="2622065"/>
              <a:ext cx="15423912" cy="10179782"/>
              <a:chOff x="0" y="0"/>
              <a:chExt cx="635000" cy="419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635000">
                    <a:moveTo>
                      <a:pt x="13071" y="0"/>
                    </a:moveTo>
                    <a:lnTo>
                      <a:pt x="621929" y="0"/>
                    </a:lnTo>
                    <a:cubicBezTo>
                      <a:pt x="625395" y="0"/>
                      <a:pt x="628720" y="1377"/>
                      <a:pt x="631171" y="3829"/>
                    </a:cubicBezTo>
                    <a:cubicBezTo>
                      <a:pt x="633623" y="6280"/>
                      <a:pt x="635000" y="9605"/>
                      <a:pt x="635000" y="13071"/>
                    </a:cubicBezTo>
                    <a:lnTo>
                      <a:pt x="635000" y="406029"/>
                    </a:lnTo>
                    <a:cubicBezTo>
                      <a:pt x="635000" y="409495"/>
                      <a:pt x="633623" y="412820"/>
                      <a:pt x="631171" y="415271"/>
                    </a:cubicBezTo>
                    <a:cubicBezTo>
                      <a:pt x="628720" y="417723"/>
                      <a:pt x="625395" y="419100"/>
                      <a:pt x="621929" y="419100"/>
                    </a:cubicBezTo>
                    <a:lnTo>
                      <a:pt x="13071" y="419100"/>
                    </a:lnTo>
                    <a:cubicBezTo>
                      <a:pt x="9605" y="419100"/>
                      <a:pt x="6280" y="417723"/>
                      <a:pt x="3829" y="415271"/>
                    </a:cubicBezTo>
                    <a:cubicBezTo>
                      <a:pt x="1377" y="412820"/>
                      <a:pt x="0" y="409495"/>
                      <a:pt x="0" y="406029"/>
                    </a:cubicBezTo>
                    <a:lnTo>
                      <a:pt x="0" y="13071"/>
                    </a:lnTo>
                    <a:cubicBezTo>
                      <a:pt x="0" y="9605"/>
                      <a:pt x="1377" y="6280"/>
                      <a:pt x="3829" y="3829"/>
                    </a:cubicBezTo>
                    <a:cubicBezTo>
                      <a:pt x="6280" y="1377"/>
                      <a:pt x="9605" y="0"/>
                      <a:pt x="13071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321782" y="578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21782" y="7436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04034" y="1576798"/>
            <a:ext cx="8360808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-299">
                <a:solidFill>
                  <a:srgbClr val="791401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Clustering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435940" y="3602104"/>
            <a:ext cx="8969307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315450"/>
            <a:ext cx="16371909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Robust Scaler : 평균 대신 중앙값과 사분위수 범위를 사용하여, 소수의 이상치에 휘둘리지 않고 데이터의 핵심 분포를 안정적으로 정규화하는 기법.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495714" y="5866446"/>
            <a:ext cx="1038977" cy="381824"/>
          </a:xfrm>
          <a:custGeom>
            <a:avLst/>
            <a:gdLst/>
            <a:ahLst/>
            <a:cxnLst/>
            <a:rect r="r" b="b" t="t" l="l"/>
            <a:pathLst>
              <a:path h="381824" w="1038977">
                <a:moveTo>
                  <a:pt x="0" y="0"/>
                </a:moveTo>
                <a:lnTo>
                  <a:pt x="1038977" y="0"/>
                </a:lnTo>
                <a:lnTo>
                  <a:pt x="1038977" y="381824"/>
                </a:lnTo>
                <a:lnTo>
                  <a:pt x="0" y="38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072546" y="3964455"/>
            <a:ext cx="6368348" cy="3549641"/>
            <a:chOff x="0" y="0"/>
            <a:chExt cx="8491131" cy="47328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582718"/>
              <a:ext cx="4663076" cy="4150137"/>
            </a:xfrm>
            <a:custGeom>
              <a:avLst/>
              <a:gdLst/>
              <a:ahLst/>
              <a:cxnLst/>
              <a:rect r="r" b="b" t="t" l="l"/>
              <a:pathLst>
                <a:path h="4150137" w="4663076">
                  <a:moveTo>
                    <a:pt x="0" y="0"/>
                  </a:moveTo>
                  <a:lnTo>
                    <a:pt x="4663076" y="0"/>
                  </a:lnTo>
                  <a:lnTo>
                    <a:pt x="4663076" y="4150137"/>
                  </a:lnTo>
                  <a:lnTo>
                    <a:pt x="0" y="415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123780" y="582718"/>
              <a:ext cx="4663076" cy="4150137"/>
            </a:xfrm>
            <a:custGeom>
              <a:avLst/>
              <a:gdLst/>
              <a:ahLst/>
              <a:cxnLst/>
              <a:rect r="r" b="b" t="t" l="l"/>
              <a:pathLst>
                <a:path h="4150137" w="4663076">
                  <a:moveTo>
                    <a:pt x="0" y="0"/>
                  </a:moveTo>
                  <a:lnTo>
                    <a:pt x="4663076" y="0"/>
                  </a:lnTo>
                  <a:lnTo>
                    <a:pt x="4663076" y="4150137"/>
                  </a:lnTo>
                  <a:lnTo>
                    <a:pt x="0" y="415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828055" y="582718"/>
              <a:ext cx="4663076" cy="4150137"/>
            </a:xfrm>
            <a:custGeom>
              <a:avLst/>
              <a:gdLst/>
              <a:ahLst/>
              <a:cxnLst/>
              <a:rect r="r" b="b" t="t" l="l"/>
              <a:pathLst>
                <a:path h="4150137" w="4663076">
                  <a:moveTo>
                    <a:pt x="0" y="0"/>
                  </a:moveTo>
                  <a:lnTo>
                    <a:pt x="4663076" y="0"/>
                  </a:lnTo>
                  <a:lnTo>
                    <a:pt x="4663076" y="4150137"/>
                  </a:lnTo>
                  <a:lnTo>
                    <a:pt x="0" y="4150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false" rot="0">
              <a:off x="7714033" y="0"/>
              <a:ext cx="677054" cy="1369043"/>
            </a:xfrm>
            <a:custGeom>
              <a:avLst/>
              <a:gdLst/>
              <a:ahLst/>
              <a:cxnLst/>
              <a:rect r="r" b="b" t="t" l="l"/>
              <a:pathLst>
                <a:path h="1369043" w="677054">
                  <a:moveTo>
                    <a:pt x="677053" y="0"/>
                  </a:moveTo>
                  <a:lnTo>
                    <a:pt x="0" y="0"/>
                  </a:lnTo>
                  <a:lnTo>
                    <a:pt x="0" y="1369043"/>
                  </a:lnTo>
                  <a:lnTo>
                    <a:pt x="677053" y="1369043"/>
                  </a:lnTo>
                  <a:lnTo>
                    <a:pt x="677053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104608">
              <a:off x="32778" y="3350618"/>
              <a:ext cx="1351501" cy="1305888"/>
            </a:xfrm>
            <a:custGeom>
              <a:avLst/>
              <a:gdLst/>
              <a:ahLst/>
              <a:cxnLst/>
              <a:rect r="r" b="b" t="t" l="l"/>
              <a:pathLst>
                <a:path h="1305888" w="1351501">
                  <a:moveTo>
                    <a:pt x="0" y="0"/>
                  </a:moveTo>
                  <a:lnTo>
                    <a:pt x="1351501" y="0"/>
                  </a:lnTo>
                  <a:lnTo>
                    <a:pt x="1351501" y="1305888"/>
                  </a:lnTo>
                  <a:lnTo>
                    <a:pt x="0" y="130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794" r="0" b="-3794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794" r="0" b="-379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군집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5129" y="4641531"/>
            <a:ext cx="5763183" cy="180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K-means clustering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적용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계산 효율을 위해 7만 명 랜덤 샘플링 후 군집 수 탐색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안정성을 위해 n_init = 20 설정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641531"/>
            <a:ext cx="6929251" cy="233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Snapshot 기반 </a:t>
            </a:r>
            <a:r>
              <a:rPr lang="en-US" sz="2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RFMD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파생 변수 사용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ecency, frequency_6m, monetary_6m, diversity_6m</a:t>
            </a:r>
          </a:p>
          <a:p>
            <a:pPr algn="l">
              <a:lnSpc>
                <a:spcPts val="3780"/>
              </a:lnSpc>
            </a:pPr>
            <a:r>
              <a:rPr lang="en-US" sz="2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⟶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분포 왜곡 완화를 위해 log 변환 적용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이상치 영향 최소화를 위해 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Robust Scaler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로 스케일링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994493" y="7837822"/>
            <a:ext cx="6258967" cy="109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Elbow (Inertia)와 Silhouette Score를 함께 활용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군집 분리도 및 해석 가능성을 고려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 = 4로 최종 군집 수 선정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94493" y="3897903"/>
            <a:ext cx="6381562" cy="3787519"/>
            <a:chOff x="0" y="0"/>
            <a:chExt cx="8508750" cy="505002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508750" cy="5050025"/>
              <a:chOff x="0" y="0"/>
              <a:chExt cx="635000" cy="37687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" cy="376879"/>
              </a:xfrm>
              <a:custGeom>
                <a:avLst/>
                <a:gdLst/>
                <a:ahLst/>
                <a:cxnLst/>
                <a:rect r="r" b="b" t="t" l="l"/>
                <a:pathLst>
                  <a:path h="376879" w="635000">
                    <a:moveTo>
                      <a:pt x="94779" y="0"/>
                    </a:moveTo>
                    <a:lnTo>
                      <a:pt x="540221" y="0"/>
                    </a:lnTo>
                    <a:cubicBezTo>
                      <a:pt x="592566" y="0"/>
                      <a:pt x="635000" y="42434"/>
                      <a:pt x="635000" y="94779"/>
                    </a:cubicBezTo>
                    <a:lnTo>
                      <a:pt x="635000" y="282100"/>
                    </a:lnTo>
                    <a:cubicBezTo>
                      <a:pt x="635000" y="334445"/>
                      <a:pt x="592566" y="376879"/>
                      <a:pt x="540221" y="376879"/>
                    </a:cubicBezTo>
                    <a:lnTo>
                      <a:pt x="94779" y="376879"/>
                    </a:lnTo>
                    <a:cubicBezTo>
                      <a:pt x="69642" y="376879"/>
                      <a:pt x="45535" y="366893"/>
                      <a:pt x="27760" y="349119"/>
                    </a:cubicBezTo>
                    <a:cubicBezTo>
                      <a:pt x="9986" y="331344"/>
                      <a:pt x="0" y="307237"/>
                      <a:pt x="0" y="282100"/>
                    </a:cubicBezTo>
                    <a:lnTo>
                      <a:pt x="0" y="94779"/>
                    </a:lnTo>
                    <a:cubicBezTo>
                      <a:pt x="0" y="42434"/>
                      <a:pt x="42434" y="0"/>
                      <a:pt x="94779" y="0"/>
                    </a:cubicBezTo>
                    <a:close/>
                  </a:path>
                </a:pathLst>
              </a:custGeom>
              <a:ln w="95250" cap="rnd">
                <a:solidFill>
                  <a:srgbClr val="791401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" cy="41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58833" y="228888"/>
              <a:ext cx="7620000" cy="4592249"/>
            </a:xfrm>
            <a:custGeom>
              <a:avLst/>
              <a:gdLst/>
              <a:ahLst/>
              <a:cxnLst/>
              <a:rect r="r" b="b" t="t" l="l"/>
              <a:pathLst>
                <a:path h="4592249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592249"/>
                  </a:lnTo>
                  <a:lnTo>
                    <a:pt x="0" y="4592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09" r="-93460" b="-16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11944" y="3897903"/>
            <a:ext cx="6381562" cy="3787519"/>
            <a:chOff x="0" y="0"/>
            <a:chExt cx="8508750" cy="5050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72418" y="209632"/>
              <a:ext cx="7363913" cy="4630761"/>
            </a:xfrm>
            <a:custGeom>
              <a:avLst/>
              <a:gdLst/>
              <a:ahLst/>
              <a:cxnLst/>
              <a:rect r="r" b="b" t="t" l="l"/>
              <a:pathLst>
                <a:path h="4630761" w="7363913">
                  <a:moveTo>
                    <a:pt x="0" y="0"/>
                  </a:moveTo>
                  <a:lnTo>
                    <a:pt x="7363914" y="0"/>
                  </a:lnTo>
                  <a:lnTo>
                    <a:pt x="7363914" y="4630761"/>
                  </a:lnTo>
                  <a:lnTo>
                    <a:pt x="0" y="463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4624" t="-2991" r="0" b="-2762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8508750" cy="5050025"/>
              <a:chOff x="0" y="0"/>
              <a:chExt cx="635000" cy="37687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" cy="376879"/>
              </a:xfrm>
              <a:custGeom>
                <a:avLst/>
                <a:gdLst/>
                <a:ahLst/>
                <a:cxnLst/>
                <a:rect r="r" b="b" t="t" l="l"/>
                <a:pathLst>
                  <a:path h="376879" w="635000">
                    <a:moveTo>
                      <a:pt x="94779" y="0"/>
                    </a:moveTo>
                    <a:lnTo>
                      <a:pt x="540221" y="0"/>
                    </a:lnTo>
                    <a:cubicBezTo>
                      <a:pt x="592566" y="0"/>
                      <a:pt x="635000" y="42434"/>
                      <a:pt x="635000" y="94779"/>
                    </a:cubicBezTo>
                    <a:lnTo>
                      <a:pt x="635000" y="282100"/>
                    </a:lnTo>
                    <a:cubicBezTo>
                      <a:pt x="635000" y="334445"/>
                      <a:pt x="592566" y="376879"/>
                      <a:pt x="540221" y="376879"/>
                    </a:cubicBezTo>
                    <a:lnTo>
                      <a:pt x="94779" y="376879"/>
                    </a:lnTo>
                    <a:cubicBezTo>
                      <a:pt x="69642" y="376879"/>
                      <a:pt x="45535" y="366893"/>
                      <a:pt x="27760" y="349119"/>
                    </a:cubicBezTo>
                    <a:cubicBezTo>
                      <a:pt x="9986" y="331344"/>
                      <a:pt x="0" y="307237"/>
                      <a:pt x="0" y="282100"/>
                    </a:cubicBezTo>
                    <a:lnTo>
                      <a:pt x="0" y="94779"/>
                    </a:lnTo>
                    <a:cubicBezTo>
                      <a:pt x="0" y="42434"/>
                      <a:pt x="42434" y="0"/>
                      <a:pt x="94779" y="0"/>
                    </a:cubicBezTo>
                    <a:close/>
                  </a:path>
                </a:pathLst>
              </a:custGeom>
              <a:ln w="95250" cap="rnd">
                <a:solidFill>
                  <a:srgbClr val="791401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5000" cy="41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94" r="0" b="-379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군집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군집 Summary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201440" y="4374675"/>
          <a:ext cx="13885120" cy="4048125"/>
        </p:xfrm>
        <a:graphic>
          <a:graphicData uri="http://schemas.openxmlformats.org/drawingml/2006/table">
            <a:tbl>
              <a:tblPr/>
              <a:tblGrid>
                <a:gridCol w="948404"/>
                <a:gridCol w="2625255"/>
                <a:gridCol w="2629740"/>
                <a:gridCol w="2643724"/>
                <a:gridCol w="2438121"/>
                <a:gridCol w="2599876"/>
              </a:tblGrid>
              <a:tr h="76379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customer_cnt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frequency_6m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monetary_6m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spc="-84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diversity_6m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recency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0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198,017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15.59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37.14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598,569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380.25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50,058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0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440,108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456">
            <a:off x="11428388" y="3411641"/>
            <a:ext cx="7615809" cy="8229600"/>
          </a:xfrm>
          <a:custGeom>
            <a:avLst/>
            <a:gdLst/>
            <a:ahLst/>
            <a:cxnLst/>
            <a:rect r="r" b="b" t="t" l="l"/>
            <a:pathLst>
              <a:path h="8229600" w="7615809">
                <a:moveTo>
                  <a:pt x="0" y="0"/>
                </a:moveTo>
                <a:lnTo>
                  <a:pt x="7615809" y="0"/>
                </a:lnTo>
                <a:lnTo>
                  <a:pt x="761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65611" y="-433593"/>
            <a:ext cx="7634836" cy="11567934"/>
            <a:chOff x="0" y="0"/>
            <a:chExt cx="10179782" cy="15423912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-2622065" y="2622065"/>
              <a:ext cx="15423912" cy="10179782"/>
              <a:chOff x="0" y="0"/>
              <a:chExt cx="635000" cy="419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635000">
                    <a:moveTo>
                      <a:pt x="13071" y="0"/>
                    </a:moveTo>
                    <a:lnTo>
                      <a:pt x="621929" y="0"/>
                    </a:lnTo>
                    <a:cubicBezTo>
                      <a:pt x="625395" y="0"/>
                      <a:pt x="628720" y="1377"/>
                      <a:pt x="631171" y="3829"/>
                    </a:cubicBezTo>
                    <a:cubicBezTo>
                      <a:pt x="633623" y="6280"/>
                      <a:pt x="635000" y="9605"/>
                      <a:pt x="635000" y="13071"/>
                    </a:cubicBezTo>
                    <a:lnTo>
                      <a:pt x="635000" y="406029"/>
                    </a:lnTo>
                    <a:cubicBezTo>
                      <a:pt x="635000" y="409495"/>
                      <a:pt x="633623" y="412820"/>
                      <a:pt x="631171" y="415271"/>
                    </a:cubicBezTo>
                    <a:cubicBezTo>
                      <a:pt x="628720" y="417723"/>
                      <a:pt x="625395" y="419100"/>
                      <a:pt x="621929" y="419100"/>
                    </a:cubicBezTo>
                    <a:lnTo>
                      <a:pt x="13071" y="419100"/>
                    </a:lnTo>
                    <a:cubicBezTo>
                      <a:pt x="9605" y="419100"/>
                      <a:pt x="6280" y="417723"/>
                      <a:pt x="3829" y="415271"/>
                    </a:cubicBezTo>
                    <a:cubicBezTo>
                      <a:pt x="1377" y="412820"/>
                      <a:pt x="0" y="409495"/>
                      <a:pt x="0" y="406029"/>
                    </a:cubicBezTo>
                    <a:lnTo>
                      <a:pt x="0" y="13071"/>
                    </a:lnTo>
                    <a:cubicBezTo>
                      <a:pt x="0" y="9605"/>
                      <a:pt x="1377" y="6280"/>
                      <a:pt x="3829" y="3829"/>
                    </a:cubicBezTo>
                    <a:cubicBezTo>
                      <a:pt x="6280" y="1377"/>
                      <a:pt x="9605" y="0"/>
                      <a:pt x="13071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321782" y="578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21782" y="7436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3435940" y="3602104"/>
            <a:ext cx="8969307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904034" y="1576798"/>
            <a:ext cx="8360808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-299">
                <a:solidFill>
                  <a:srgbClr val="791401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Classification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559869"/>
            <a:ext cx="6002982" cy="444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데이터 &amp; 이탈 정의 (Labeling)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기준 시점 (T)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= 2020-06-22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이탈 정의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이후 90일 동안 구매가 없으면 → 이탈(churn=1)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90일 내 구매 발생 → 유지(churn=0)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= 1  (미래 90일 무구매)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= 0  (미래 90일 내 구매)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832831"/>
            <a:ext cx="13972894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목적 : 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고객 이탈(Churn)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을 사전에 예측하여 마케팅·CRM 전략에 활용 가능한 확률 점수 산출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38225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통계 검정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315450"/>
            <a:ext cx="16481735" cy="69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*Mann-Whitney U : 데이터가 정규분포를 따르지 않을 때, 두 독립된 집단의 중앙값 차이를 데이터의 순위를 매겨 비교하는 비모수 통계 방법이다.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왜 사용하는가? : 두 집단에서 추출한 표본들이 동일한 분포에서 왔는지, 한쪽 집단의 값이 전반적으로 큰지 확인하고 싶을 때 사용.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789544"/>
            <a:ext cx="7914603" cy="295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수치형 변수에서 NaN / inf 제거</a:t>
            </a:r>
          </a:p>
          <a:p>
            <a:pPr algn="just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로그 변환 (log1p) → 왜도 완화</a:t>
            </a:r>
          </a:p>
          <a:p>
            <a:pPr algn="just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결측치 : median (중앙값), most_frequent (최빈값)</a:t>
            </a:r>
          </a:p>
          <a:p>
            <a:pPr algn="just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범주형 : One-Hot Encoding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6" id="16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550746" y="2642535"/>
            <a:ext cx="4708554" cy="6460311"/>
            <a:chOff x="0" y="0"/>
            <a:chExt cx="6278071" cy="86137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78071" cy="8613748"/>
            </a:xfrm>
            <a:custGeom>
              <a:avLst/>
              <a:gdLst/>
              <a:ahLst/>
              <a:cxnLst/>
              <a:rect r="r" b="b" t="t" l="l"/>
              <a:pathLst>
                <a:path h="8613748" w="6278071">
                  <a:moveTo>
                    <a:pt x="0" y="0"/>
                  </a:moveTo>
                  <a:lnTo>
                    <a:pt x="6278071" y="0"/>
                  </a:lnTo>
                  <a:lnTo>
                    <a:pt x="6278071" y="8613748"/>
                  </a:lnTo>
                  <a:lnTo>
                    <a:pt x="0" y="8613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94" t="-2255" r="-3037" b="-2466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59350" y="350387"/>
              <a:ext cx="1636204" cy="379156"/>
              <a:chOff x="0" y="0"/>
              <a:chExt cx="347816" cy="805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7816" cy="80599"/>
              </a:xfrm>
              <a:custGeom>
                <a:avLst/>
                <a:gdLst/>
                <a:ahLst/>
                <a:cxnLst/>
                <a:rect r="r" b="b" t="t" l="l"/>
                <a:pathLst>
                  <a:path h="80599" w="347816">
                    <a:moveTo>
                      <a:pt x="40299" y="0"/>
                    </a:moveTo>
                    <a:lnTo>
                      <a:pt x="307516" y="0"/>
                    </a:lnTo>
                    <a:cubicBezTo>
                      <a:pt x="329773" y="0"/>
                      <a:pt x="347816" y="18043"/>
                      <a:pt x="347816" y="40299"/>
                    </a:cubicBezTo>
                    <a:lnTo>
                      <a:pt x="347816" y="40299"/>
                    </a:lnTo>
                    <a:cubicBezTo>
                      <a:pt x="347816" y="62556"/>
                      <a:pt x="329773" y="80599"/>
                      <a:pt x="307516" y="80599"/>
                    </a:cubicBezTo>
                    <a:lnTo>
                      <a:pt x="40299" y="80599"/>
                    </a:lnTo>
                    <a:cubicBezTo>
                      <a:pt x="18043" y="80599"/>
                      <a:pt x="0" y="62556"/>
                      <a:pt x="0" y="40299"/>
                    </a:cubicBezTo>
                    <a:lnTo>
                      <a:pt x="0" y="40299"/>
                    </a:lnTo>
                    <a:cubicBezTo>
                      <a:pt x="0" y="18043"/>
                      <a:pt x="18043" y="0"/>
                      <a:pt x="40299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47816" cy="1186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234543" y="350387"/>
              <a:ext cx="1817947" cy="379156"/>
              <a:chOff x="0" y="0"/>
              <a:chExt cx="386450" cy="8059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6450" cy="80599"/>
              </a:xfrm>
              <a:custGeom>
                <a:avLst/>
                <a:gdLst/>
                <a:ahLst/>
                <a:cxnLst/>
                <a:rect r="r" b="b" t="t" l="l"/>
                <a:pathLst>
                  <a:path h="80599" w="386450">
                    <a:moveTo>
                      <a:pt x="40299" y="0"/>
                    </a:moveTo>
                    <a:lnTo>
                      <a:pt x="346150" y="0"/>
                    </a:lnTo>
                    <a:cubicBezTo>
                      <a:pt x="368407" y="0"/>
                      <a:pt x="386450" y="18043"/>
                      <a:pt x="386450" y="40299"/>
                    </a:cubicBezTo>
                    <a:lnTo>
                      <a:pt x="386450" y="40299"/>
                    </a:lnTo>
                    <a:cubicBezTo>
                      <a:pt x="386450" y="62556"/>
                      <a:pt x="368407" y="80599"/>
                      <a:pt x="346150" y="80599"/>
                    </a:cubicBezTo>
                    <a:lnTo>
                      <a:pt x="40299" y="80599"/>
                    </a:lnTo>
                    <a:cubicBezTo>
                      <a:pt x="18043" y="80599"/>
                      <a:pt x="0" y="62556"/>
                      <a:pt x="0" y="40299"/>
                    </a:cubicBezTo>
                    <a:lnTo>
                      <a:pt x="0" y="40299"/>
                    </a:lnTo>
                    <a:cubicBezTo>
                      <a:pt x="0" y="18043"/>
                      <a:pt x="18043" y="0"/>
                      <a:pt x="40299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86450" cy="1186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0221" y="392808"/>
              <a:ext cx="1090976" cy="29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 feature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234543" y="392808"/>
              <a:ext cx="1935545" cy="29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설명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5926287"/>
            <a:ext cx="8439518" cy="369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검정 방식 선택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정규성 만족 → t-test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정규성 불만족 → Mann–Whitney U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그룹 비교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g0: 유지 고객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g1: 이탈 고객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한쪽 데이터 없으면 분석 제외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511888" y="3789544"/>
            <a:ext cx="5640530" cy="258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효과 크기 계산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t-test → 평균 차이 (유지 − 이탈)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비모수 → Rank-Biserial r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다중비교 보정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FDR-BH 적용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q-value 기준으로 유의한 피처만 선별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50779" y="4645954"/>
            <a:ext cx="15186443" cy="2972279"/>
          </a:xfrm>
          <a:custGeom>
            <a:avLst/>
            <a:gdLst/>
            <a:ahLst/>
            <a:cxnLst/>
            <a:rect r="r" b="b" t="t" l="l"/>
            <a:pathLst>
              <a:path h="2972279" w="15186443">
                <a:moveTo>
                  <a:pt x="0" y="0"/>
                </a:moveTo>
                <a:lnTo>
                  <a:pt x="15186442" y="0"/>
                </a:lnTo>
                <a:lnTo>
                  <a:pt x="15186442" y="2972279"/>
                </a:lnTo>
                <a:lnTo>
                  <a:pt x="0" y="2972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2" t="-3452" r="-1013" b="-414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통계 검정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3832831"/>
            <a:ext cx="12811258" cy="41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유의성 검정 및 효과 크기 분석 결과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Logistic Regression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9315450"/>
            <a:ext cx="16749216" cy="69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2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Stratified k-Fold : 원본 데이터의 정답 비율 (0과 1의 비중)을 k 개의 조각에 고스란히 유지시켜, 치우침 없는 공정한 학습과 평가를 보장하는 교차 검증의 정석.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2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OOF : 모델이 학습할 때 한 번도 본 적 없는 데이터들로만 예측값을 채운 '오염되지 않은 진짜 성적표'이자, 고성능 앙상블 모델을 만드는 핵심 재료.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590" y="3839370"/>
            <a:ext cx="8252326" cy="40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수치형: 중앙값 대체 + RobustScaler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범주형: 최빈값 대체 + One-Hot Encoding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학습 전략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Stratified 5-Fold OOF / 이탈 비율을 유지한 채 확률 예측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OOf (Out-Of-Fold) 예측/ 데이터 누수 없는 전 고객 확률 산출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보정 (Calibration)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Isotonic Regression 적용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점수를 실제 이탈 확률로 변환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3877470"/>
            <a:ext cx="10129924" cy="5147831"/>
            <a:chOff x="0" y="0"/>
            <a:chExt cx="13506565" cy="686377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13506565" cy="6901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모델 목적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지표를 기반으로 이탈 여부를 확률로 예측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해석 가능성과 확률 안정성을 중시한 Baseline 분류 모델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입력 피처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수치형(로그 변환)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구매 강도 및 빈도 파생 지표 (freq_per_*, intensity)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패턴 기반 cluster_id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240187" y="2951271"/>
              <a:ext cx="8441035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-1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 / Frequency / Monetary / Diversity / Focus / AOV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Logistic Regression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3862410"/>
            <a:ext cx="10129924" cy="40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성능 평가 지표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Brier Score: 확률 정확도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ROC-AUC: 이탈/유지 구분력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PR-AUC: 희소한 이탈자 탐지 성능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안정적이고 해석 가능한 확률 모델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보정 후 정책 활용 가능성 확보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비선형 패턴 포착에는 한계 존재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790352" y="4715090"/>
          <a:ext cx="7050748" cy="2760092"/>
        </p:xfrm>
        <a:graphic>
          <a:graphicData uri="http://schemas.openxmlformats.org/drawingml/2006/table">
            <a:tbl>
              <a:tblPr/>
              <a:tblGrid>
                <a:gridCol w="1748783"/>
                <a:gridCol w="1748783"/>
                <a:gridCol w="1716521"/>
                <a:gridCol w="1836661"/>
              </a:tblGrid>
              <a:tr h="11161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PR-AUC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Brier Score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0.801875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0.868967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0.168135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Isotonic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0.801762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0.870715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0.182101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028700" y="9315450"/>
            <a:ext cx="16749216" cy="69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Brier Score : 모델이 예측한 확률이 실제 결과와 얼마나 차이 나는지 측정하는 '확률 오차 점수'로, 0점에 가까울수록 모델이 내뱉는 확률이 완벽하게 정확함을 의미.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LightGBM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3839370"/>
            <a:ext cx="8115300" cy="407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목적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 행동 간 비선형 관계와 복합 패턴을 학습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실제 이탈 패턴을 더 정교하게 반영한 고성능 분류 모델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입력 피처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로지스틱과 동일한 피처 구성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(모델 간 공정한 성능 비교를 위해 동일 조건 유지)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처리 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수치형: 중앙값 대체 (트리 모델 특성상 스케일링 제외)</a:t>
            </a:r>
          </a:p>
          <a:p>
            <a:pPr algn="just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범주형: 최빈값 대체 + One-Hot Encoding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590" y="3839370"/>
            <a:ext cx="7106909" cy="33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학습 전략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Stratified 5-Fold OOF/ 이탈 비율을 유지한 채 확률 예측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Fold 별 Early Stopping 적용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최적 반복수 (best_iteration) 자동 탐색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과적합 방지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보정 (Calibration)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로지스틱과 동일하게 Isotonic Regression 적용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고성능 모델의 점수를 정책 활용 가능한 확률로 정제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LightGBM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790352" y="4715090"/>
          <a:ext cx="7050748" cy="2760092"/>
        </p:xfrm>
        <a:graphic>
          <a:graphicData uri="http://schemas.openxmlformats.org/drawingml/2006/table">
            <a:tbl>
              <a:tblPr/>
              <a:tblGrid>
                <a:gridCol w="1748783"/>
                <a:gridCol w="1748783"/>
                <a:gridCol w="1716521"/>
                <a:gridCol w="1836661"/>
              </a:tblGrid>
              <a:tr h="11161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PR-AUC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Brier Score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0.804763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0.870938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0.166903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Isotonic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9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0.804683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0.872201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0.179572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3862410"/>
            <a:ext cx="7361743" cy="444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성능 평가 결과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ROC-AUC / PR-AUC 모두 로지스틱 대비 우수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Brier Score 개선</a:t>
            </a:r>
          </a:p>
          <a:p>
            <a:pPr algn="just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정확도 측면에서도 신뢰 가능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요약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복합 행동 패턴을 효과적으로 학습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보정 후 고위험 고객 선별 정확도 향상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실무 정책 적용에 가장 적합한 모델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LightGBM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640" y="3839370"/>
            <a:ext cx="7390206" cy="184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LightGBM + Isotonic Calibration 모델 채택</a:t>
            </a:r>
          </a:p>
          <a:p>
            <a:pPr algn="just" marL="906780" indent="-302260" lvl="2">
              <a:lnSpc>
                <a:spcPts val="2940"/>
              </a:lnSpc>
              <a:buAutoNum type="alphaLcPeriod" startAt="1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이탈 고객 탐지 성능(PR-AUC) 우수</a:t>
            </a:r>
          </a:p>
          <a:p>
            <a:pPr algn="just" marL="906780" indent="-302260" lvl="2">
              <a:lnSpc>
                <a:spcPts val="2940"/>
              </a:lnSpc>
              <a:buAutoNum type="alphaLcPeriod" startAt="1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정확도(Brier) 개선</a:t>
            </a:r>
          </a:p>
          <a:p>
            <a:pPr algn="just" marL="906780" indent="-302260" lvl="2">
              <a:lnSpc>
                <a:spcPts val="2940"/>
              </a:lnSpc>
              <a:buAutoNum type="alphaLcPeriod" startAt="1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 기반 의사결정 정책에 가장 적합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790352" y="3877470"/>
          <a:ext cx="7050748" cy="5226916"/>
        </p:xfrm>
        <a:graphic>
          <a:graphicData uri="http://schemas.openxmlformats.org/drawingml/2006/table">
            <a:tbl>
              <a:tblPr/>
              <a:tblGrid>
                <a:gridCol w="2364791"/>
                <a:gridCol w="2364791"/>
                <a:gridCol w="2321165"/>
              </a:tblGrid>
              <a:tr h="112368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Logistic</a:t>
                      </a:r>
                      <a:endParaRPr lang="en-US" sz="1100"/>
                    </a:p>
                    <a:p>
                      <a:pPr algn="just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Regression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adley"/>
                          <a:ea typeface="Radley"/>
                          <a:cs typeface="Radley"/>
                          <a:sym typeface="Radley"/>
                        </a:rPr>
                        <a:t>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1401"/>
                    </a:solidFill>
                  </a:tcPr>
                </a:tc>
              </a:tr>
              <a:tr h="82064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높음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중간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해석 용이성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64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제한적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우수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비선형 패턴 학습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64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0.801875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0.804763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64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0.868967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0.870938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64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0.168135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0.166903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Brier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LightGBM SHAP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315450"/>
            <a:ext cx="16749216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SHAP : 해당 머신러닝에서 각 피처가 예측 결과에 기여한 정도를 수치화하여 설명해 주는 도구.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04692" y="3595356"/>
            <a:ext cx="6524515" cy="5672469"/>
          </a:xfrm>
          <a:custGeom>
            <a:avLst/>
            <a:gdLst/>
            <a:ahLst/>
            <a:cxnLst/>
            <a:rect r="r" b="b" t="t" l="l"/>
            <a:pathLst>
              <a:path h="5672469" w="6524515">
                <a:moveTo>
                  <a:pt x="0" y="0"/>
                </a:moveTo>
                <a:lnTo>
                  <a:pt x="6524516" y="0"/>
                </a:lnTo>
                <a:lnTo>
                  <a:pt x="6524516" y="5672469"/>
                </a:lnTo>
                <a:lnTo>
                  <a:pt x="0" y="5672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58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3640" y="3867945"/>
            <a:ext cx="6012284" cy="466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SHAP Summary Plot 해석 (방향성)</a:t>
            </a:r>
          </a:p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x축 SHAP 값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+ : 이탈 확률 증가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− : 이탈 확률 감소</a:t>
            </a:r>
          </a:p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색상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빨강 : 피처 값 높음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파랑 : 피처 값 낮음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 marL="453390" indent="-22669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Recency ↑ → 이탈 확률 크게 증가</a:t>
            </a:r>
          </a:p>
          <a:p>
            <a:pPr algn="l" marL="453390" indent="-22669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구매 빈도 / 최근 활동 밀도 ↓ → 이탈 확률 증가</a:t>
            </a:r>
          </a:p>
          <a:p>
            <a:pPr algn="l" marL="453390" indent="-22669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상품 다양성 ↓ → 이탈 가능성 증가</a:t>
            </a:r>
          </a:p>
          <a:p>
            <a:pPr algn="l" marL="453390" indent="-22669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금액(Monetary), AOV 영향은 상대적으로 작음</a:t>
            </a:r>
          </a:p>
          <a:p>
            <a:pPr algn="l" marL="453390" indent="-226695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cluster_id는 보조적 역할 (주요 결정 요인은 아님)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LightGBM SHAP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877470"/>
            <a:ext cx="5508796" cy="2987040"/>
            <a:chOff x="0" y="0"/>
            <a:chExt cx="7345062" cy="39827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7345062" cy="3992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2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SHAP Importance </a:t>
              </a:r>
            </a:p>
            <a:p>
              <a:pPr algn="just" marL="453390" indent="-226695" lvl="1">
                <a:lnSpc>
                  <a:spcPts val="2625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모델 예측에 가장 크게 기여한 변수 순서</a:t>
              </a: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최근성 + 행동 빈도/다양성 중심 모델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6679" y="841251"/>
              <a:ext cx="4536033" cy="2150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freq_per_recency_log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diversity_6m_log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frequency_6m_log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monetary_6m_log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304692" y="3596326"/>
            <a:ext cx="6788613" cy="5671499"/>
          </a:xfrm>
          <a:custGeom>
            <a:avLst/>
            <a:gdLst/>
            <a:ahLst/>
            <a:cxnLst/>
            <a:rect r="r" b="b" t="t" l="l"/>
            <a:pathLst>
              <a:path h="5671499" w="6788613">
                <a:moveTo>
                  <a:pt x="0" y="0"/>
                </a:moveTo>
                <a:lnTo>
                  <a:pt x="6788613" y="0"/>
                </a:lnTo>
                <a:lnTo>
                  <a:pt x="6788613" y="5671499"/>
                </a:lnTo>
                <a:lnTo>
                  <a:pt x="0" y="567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307346" y="6356673"/>
            <a:ext cx="5110895" cy="1847688"/>
          </a:xfrm>
          <a:custGeom>
            <a:avLst/>
            <a:gdLst/>
            <a:ahLst/>
            <a:cxnLst/>
            <a:rect r="r" b="b" t="t" l="l"/>
            <a:pathLst>
              <a:path h="1847688" w="5110895">
                <a:moveTo>
                  <a:pt x="0" y="0"/>
                </a:moveTo>
                <a:lnTo>
                  <a:pt x="5110895" y="0"/>
                </a:lnTo>
                <a:lnTo>
                  <a:pt x="5110895" y="1847689"/>
                </a:lnTo>
                <a:lnTo>
                  <a:pt x="0" y="18476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65" t="-14122" r="-8959" b="-83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Isotonic Calibration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87855" y="4986976"/>
            <a:ext cx="5110895" cy="9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5"/>
              </a:lnSpc>
            </a:pP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Calibration :</a:t>
            </a:r>
          </a:p>
          <a:p>
            <a:pPr algn="just">
              <a:lnSpc>
                <a:spcPts val="2625"/>
              </a:lnSpc>
            </a:pP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모델이 단순히 잘 맞히는 것을 넘어, 얼마나 </a:t>
            </a:r>
          </a:p>
          <a:p>
            <a:pPr algn="just">
              <a:lnSpc>
                <a:spcPts val="2625"/>
              </a:lnSpc>
            </a:pPr>
            <a:r>
              <a:rPr lang="en-US" b="true" sz="2100" spc="-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정직한 확률을 내뱉는지</a:t>
            </a: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강조한다.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85600" y="4562823"/>
            <a:ext cx="5836590" cy="3974862"/>
            <a:chOff x="0" y="0"/>
            <a:chExt cx="7782121" cy="52998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26426" cy="5274519"/>
            </a:xfrm>
            <a:custGeom>
              <a:avLst/>
              <a:gdLst/>
              <a:ahLst/>
              <a:cxnLst/>
              <a:rect r="r" b="b" t="t" l="l"/>
              <a:pathLst>
                <a:path h="5274519" w="5926426">
                  <a:moveTo>
                    <a:pt x="0" y="0"/>
                  </a:moveTo>
                  <a:lnTo>
                    <a:pt x="5926426" y="0"/>
                  </a:lnTo>
                  <a:lnTo>
                    <a:pt x="5926426" y="5274519"/>
                  </a:lnTo>
                  <a:lnTo>
                    <a:pt x="0" y="527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5695" y="25297"/>
              <a:ext cx="5926426" cy="5274519"/>
            </a:xfrm>
            <a:custGeom>
              <a:avLst/>
              <a:gdLst/>
              <a:ahLst/>
              <a:cxnLst/>
              <a:rect r="r" b="b" t="t" l="l"/>
              <a:pathLst>
                <a:path h="5274519" w="5926426">
                  <a:moveTo>
                    <a:pt x="0" y="0"/>
                  </a:moveTo>
                  <a:lnTo>
                    <a:pt x="5926426" y="0"/>
                  </a:lnTo>
                  <a:lnTo>
                    <a:pt x="5926426" y="5274519"/>
                  </a:lnTo>
                  <a:lnTo>
                    <a:pt x="0" y="527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5104608">
              <a:off x="57873" y="3873123"/>
              <a:ext cx="1370234" cy="1323988"/>
            </a:xfrm>
            <a:custGeom>
              <a:avLst/>
              <a:gdLst/>
              <a:ahLst/>
              <a:cxnLst/>
              <a:rect r="r" b="b" t="t" l="l"/>
              <a:pathLst>
                <a:path h="1323988" w="1370234">
                  <a:moveTo>
                    <a:pt x="0" y="0"/>
                  </a:moveTo>
                  <a:lnTo>
                    <a:pt x="1370234" y="0"/>
                  </a:lnTo>
                  <a:lnTo>
                    <a:pt x="1370234" y="1323988"/>
                  </a:lnTo>
                  <a:lnTo>
                    <a:pt x="0" y="1323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48447" y="6947645"/>
            <a:ext cx="511089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sz="2100" spc="-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수치적 증거 : 보정 전에는 Brier Score가 0.179였으나, 보정 후 0.166으로 낮아져 모델이 더 정직해짐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16818238" y="3965912"/>
            <a:ext cx="582371" cy="1177588"/>
          </a:xfrm>
          <a:custGeom>
            <a:avLst/>
            <a:gdLst/>
            <a:ahLst/>
            <a:cxnLst/>
            <a:rect r="r" b="b" t="t" l="l"/>
            <a:pathLst>
              <a:path h="1177588" w="582371">
                <a:moveTo>
                  <a:pt x="582371" y="0"/>
                </a:moveTo>
                <a:lnTo>
                  <a:pt x="0" y="0"/>
                </a:lnTo>
                <a:lnTo>
                  <a:pt x="0" y="1177588"/>
                </a:lnTo>
                <a:lnTo>
                  <a:pt x="582371" y="1177588"/>
                </a:lnTo>
                <a:lnTo>
                  <a:pt x="5823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007498" y="4958403"/>
            <a:ext cx="4168118" cy="152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Calibration Curve 결과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 LGBM (OOF)</a:t>
            </a:r>
          </a:p>
          <a:p>
            <a:pPr algn="l" marL="453390" indent="-226695" lvl="1">
              <a:lnSpc>
                <a:spcPts val="231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전반적으로 이탈 확률을 과대 추정</a:t>
            </a:r>
          </a:p>
          <a:p>
            <a:pPr algn="l" marL="453390" indent="-226695" lvl="1">
              <a:lnSpc>
                <a:spcPts val="2310"/>
              </a:lnSpc>
              <a:buFont typeface="Arial"/>
              <a:buChar char="•"/>
            </a:pPr>
          </a:p>
          <a:p>
            <a:pPr algn="l">
              <a:lnSpc>
                <a:spcPts val="2310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99613" y="3892662"/>
            <a:ext cx="5040375" cy="5110647"/>
          </a:xfrm>
          <a:custGeom>
            <a:avLst/>
            <a:gdLst/>
            <a:ahLst/>
            <a:cxnLst/>
            <a:rect r="r" b="b" t="t" l="l"/>
            <a:pathLst>
              <a:path h="5110647" w="5040375">
                <a:moveTo>
                  <a:pt x="0" y="0"/>
                </a:moveTo>
                <a:lnTo>
                  <a:pt x="5040375" y="0"/>
                </a:lnTo>
                <a:lnTo>
                  <a:pt x="5040375" y="5110646"/>
                </a:lnTo>
                <a:lnTo>
                  <a:pt x="0" y="5110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499218" y="5933763"/>
            <a:ext cx="4760082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Isotonic 적용 후</a:t>
            </a:r>
          </a:p>
          <a:p>
            <a:pPr algn="l">
              <a:lnSpc>
                <a:spcPts val="2310"/>
              </a:lnSpc>
            </a:pP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관측 이탈률이 Perfect line (대각선)에 근접</a:t>
            </a:r>
          </a:p>
          <a:p>
            <a:pPr algn="l">
              <a:lnSpc>
                <a:spcPts val="2310"/>
              </a:lnSpc>
            </a:pPr>
            <a:r>
              <a:rPr lang="en-US" sz="2100" spc="-4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 구간에서 확률 신뢰도 개선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변수 제거 성능 평가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315450"/>
            <a:ext cx="16749216" cy="69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Early Stopping : 학습 데이터에만 편향되는 과적합을 막기 위해, 검증 데이터의 성적이 더 이상 좋아지지 않는 최적의 시점에서 학습을 멈추는 자동 제어 장치.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790352" y="3839370"/>
            <a:ext cx="7109712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과적합 제어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Early Stopping과 best_iter 고정을 통해, 특정 변수에만 유리하게 학습되는 현상을 방지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Brier Score 기준 평가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확률의 정확도를 기준으로 변수의 가치를 평가하여 Isotonic Calibration 과의 논리적 연결성을 확보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0540" y="3877470"/>
            <a:ext cx="8402768" cy="5228890"/>
            <a:chOff x="0" y="0"/>
            <a:chExt cx="11203691" cy="697185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11203691" cy="5469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목적</a:t>
              </a:r>
            </a:p>
            <a:p>
              <a:pPr algn="l" marL="453390" indent="-226695" lvl="1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기여도 기반 변수 선정</a:t>
              </a: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방법</a:t>
              </a:r>
            </a:p>
            <a:p>
              <a:pPr algn="l" marL="453390" indent="-226695" lvl="1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변수를 하나씩 제거했을 때 발생하는 오차의 변화를 측정하여 핵심 변수 선별</a:t>
              </a: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분석 프로세스 설계</a:t>
              </a:r>
            </a:p>
            <a:p>
              <a:pPr algn="l" marL="453390" indent="-226695" lvl="1">
                <a:lnSpc>
                  <a:spcPts val="2730"/>
                </a:lnSpc>
                <a:buAutoNum type="arabicPeriod" startAt="1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데이터 정교화 - 데이터 불균형을 고려하여 층화 추출 적용, 학습 및 검증 데이터 분포 동일하게 유지</a:t>
              </a:r>
            </a:p>
            <a:p>
              <a:pPr algn="l" marL="453390" indent="-226695" lvl="1">
                <a:lnSpc>
                  <a:spcPts val="2730"/>
                </a:lnSpc>
                <a:buAutoNum type="arabicPeriod" startAt="1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전처리 </a:t>
              </a: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7338" y="4492565"/>
              <a:ext cx="9479616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수치형: 중앙값 대체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범주형: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최빈값 대체 + One-Hot Encoding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97891" y="6014174"/>
              <a:ext cx="10628997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검증 데이터 오차가 최소화되는 최적 트리 개수를 도출하여 모든 변수 실험이 동일한 조건에서 공정하게 이루어지도록 설정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501045"/>
              <a:ext cx="3181201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학습 기준점 고정 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57576" y="3377235"/>
            <a:ext cx="4166727" cy="5747210"/>
          </a:xfrm>
          <a:custGeom>
            <a:avLst/>
            <a:gdLst/>
            <a:ahLst/>
            <a:cxnLst/>
            <a:rect r="r" b="b" t="t" l="l"/>
            <a:pathLst>
              <a:path h="5747210" w="4166727">
                <a:moveTo>
                  <a:pt x="0" y="0"/>
                </a:moveTo>
                <a:lnTo>
                  <a:pt x="4166727" y="0"/>
                </a:lnTo>
                <a:lnTo>
                  <a:pt x="4166727" y="5747210"/>
                </a:lnTo>
                <a:lnTo>
                  <a:pt x="0" y="5747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분류 - Isotonic Calibration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15450"/>
            <a:ext cx="16749216" cy="104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delta_brier : 특정 변수를 제거했을 때 이탈 확률 예측의 정밀도 (Brier Score)가 얼마나 나빠지는지를 측정하여, 해당 변수가 확률의 신뢰도에 기여하는 정도를 나타내는 지표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분류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858420"/>
            <a:ext cx="8216586" cy="239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변수별 영향력 검증 로직 : 변수별 오차 민감도 분석을 통한 핵심 변수 파악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: 해당 변수를 제거했을 때 오차가 커졌음을 의미 → 모델 성능에 필수적인 핵심 변수</a:t>
            </a:r>
          </a:p>
          <a:p>
            <a:pPr algn="l" marL="453390" indent="-226695" lvl="1">
              <a:lnSpc>
                <a:spcPts val="273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해당 변수가 없어도 성능에 차이 없거나 오히려 오차가 줄어듦 →  노이즈 변수일 확률 올라감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456">
            <a:off x="11428388" y="3411641"/>
            <a:ext cx="7615809" cy="8229600"/>
          </a:xfrm>
          <a:custGeom>
            <a:avLst/>
            <a:gdLst/>
            <a:ahLst/>
            <a:cxnLst/>
            <a:rect r="r" b="b" t="t" l="l"/>
            <a:pathLst>
              <a:path h="8229600" w="7615809">
                <a:moveTo>
                  <a:pt x="0" y="0"/>
                </a:moveTo>
                <a:lnTo>
                  <a:pt x="7615809" y="0"/>
                </a:lnTo>
                <a:lnTo>
                  <a:pt x="761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65611" y="-433593"/>
            <a:ext cx="7634836" cy="11567934"/>
            <a:chOff x="0" y="0"/>
            <a:chExt cx="10179782" cy="15423912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-2622065" y="2622065"/>
              <a:ext cx="15423912" cy="10179782"/>
              <a:chOff x="0" y="0"/>
              <a:chExt cx="635000" cy="419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635000">
                    <a:moveTo>
                      <a:pt x="13071" y="0"/>
                    </a:moveTo>
                    <a:lnTo>
                      <a:pt x="621929" y="0"/>
                    </a:lnTo>
                    <a:cubicBezTo>
                      <a:pt x="625395" y="0"/>
                      <a:pt x="628720" y="1377"/>
                      <a:pt x="631171" y="3829"/>
                    </a:cubicBezTo>
                    <a:cubicBezTo>
                      <a:pt x="633623" y="6280"/>
                      <a:pt x="635000" y="9605"/>
                      <a:pt x="635000" y="13071"/>
                    </a:cubicBezTo>
                    <a:lnTo>
                      <a:pt x="635000" y="406029"/>
                    </a:lnTo>
                    <a:cubicBezTo>
                      <a:pt x="635000" y="409495"/>
                      <a:pt x="633623" y="412820"/>
                      <a:pt x="631171" y="415271"/>
                    </a:cubicBezTo>
                    <a:cubicBezTo>
                      <a:pt x="628720" y="417723"/>
                      <a:pt x="625395" y="419100"/>
                      <a:pt x="621929" y="419100"/>
                    </a:cubicBezTo>
                    <a:lnTo>
                      <a:pt x="13071" y="419100"/>
                    </a:lnTo>
                    <a:cubicBezTo>
                      <a:pt x="9605" y="419100"/>
                      <a:pt x="6280" y="417723"/>
                      <a:pt x="3829" y="415271"/>
                    </a:cubicBezTo>
                    <a:cubicBezTo>
                      <a:pt x="1377" y="412820"/>
                      <a:pt x="0" y="409495"/>
                      <a:pt x="0" y="406029"/>
                    </a:cubicBezTo>
                    <a:lnTo>
                      <a:pt x="0" y="13071"/>
                    </a:lnTo>
                    <a:cubicBezTo>
                      <a:pt x="0" y="9605"/>
                      <a:pt x="1377" y="6280"/>
                      <a:pt x="3829" y="3829"/>
                    </a:cubicBezTo>
                    <a:cubicBezTo>
                      <a:pt x="6280" y="1377"/>
                      <a:pt x="9605" y="0"/>
                      <a:pt x="13071" y="0"/>
                    </a:cubicBez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3321782" y="578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21782" y="7436124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3435940" y="3602104"/>
            <a:ext cx="8969307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904034" y="1576798"/>
            <a:ext cx="8360808" cy="16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-299">
                <a:solidFill>
                  <a:srgbClr val="791401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Regression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39370"/>
            <a:ext cx="7361039" cy="369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회귀 모델 : LightGBM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사용 데이터 : 군집 데이터 (과거6m) + 미래 매출 데이터 (미래 3m)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log1p 변환 → 매출 왜도 완화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미래 구매 없음 : 0원 처리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핵심 피처 생성 : avg_monetary_6m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결측/inf 처리 : median / 최빈값 대체 + inf 제거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회귀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90352" y="3877470"/>
            <a:ext cx="7953933" cy="2175733"/>
            <a:chOff x="0" y="0"/>
            <a:chExt cx="10605244" cy="290097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0605244" cy="2939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과거 6개월 행동지표 : </a:t>
              </a:r>
            </a:p>
            <a:p>
              <a:pPr algn="l">
                <a:lnSpc>
                  <a:spcPts val="2940"/>
                </a:lnSpc>
              </a:p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파생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변수 : freq_per_recency, freq_per_div, avg_monetary_6m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 변수 : cluster_id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타겟 변수 : future_monetary_3m</a:t>
              </a:r>
            </a:p>
            <a:p>
              <a:pPr algn="l">
                <a:lnSpc>
                  <a:spcPts val="2940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21237"/>
              <a:ext cx="10085707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</a:pPr>
              <a:r>
                <a:rPr lang="en-US" sz="2099" spc="-1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 / Frequency / Monetary / Diversity / Focus / AOV / Intensity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315450"/>
            <a:ext cx="16371909" cy="69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Spearman : 데이터의 실제 값 대신 '등수'를 매겨서, 한쪽이 커질 때 다른 쪽도 같이 커지는 '경향'이 얼마나 확실한지 측정하는 지표.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C3C3"/>
                </a:solidFill>
                <a:latin typeface="Montserrat"/>
                <a:ea typeface="Montserrat"/>
                <a:cs typeface="Montserrat"/>
                <a:sym typeface="Montserrat"/>
              </a:rPr>
              <a:t>* FDR-BH : 수많은 가설 검정을 동시에 할 때, 우연히 유의미하게 보일 뿐인 가짜 결과를 통계적으로 걸러내어 진짜들만 남겨주는 합리적인 필터링 기법.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통계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3839370"/>
            <a:ext cx="4388941" cy="444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상관계수 계산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rho : 상관계수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 : p-value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Spearman : 상관관계 방향과 강도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결측치 제거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표본 수 30보다 적으면 제거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544640" y="3877470"/>
            <a:ext cx="6635502" cy="4579866"/>
            <a:chOff x="0" y="0"/>
            <a:chExt cx="8847336" cy="610648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6236146" cy="2443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다중비교 보정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FDR-BH 적용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q-value 기준으로 유의한 피처만 선별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rej : 유의미성 여부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qvlas : 보정된 p-value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672060"/>
              <a:ext cx="8847336" cy="3434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결론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모든 변수 </a:t>
              </a: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rho 절댓값이 0.5와 근접함 (강력한 상관관계)</a:t>
              </a: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모든 변수의 q_fdr_bh 값 0.0001로 유의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</a:p>
            <a:p>
              <a:pPr algn="l" marL="453388" indent="-226694" lvl="1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모든 변수 significant_fdr가 True 나타남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→ 통계 검정 결과가 믿을 수 있는 신호로 판단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선형회귀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525590" y="3839370"/>
            <a:ext cx="8252326" cy="295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수치형: 중앙값 대체 + RobustScaler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범주형: 최빈값 대체 + One-Hot Encoding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학습 전략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5-Fold Cross Validation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OOf (Out-Of-Fold) 예측/ 데이터 누수 없는 전 고객 확률 산출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점수를 실제 매출 금액으로 변환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877470"/>
            <a:ext cx="10129924" cy="5147831"/>
            <a:chOff x="0" y="0"/>
            <a:chExt cx="13506565" cy="686377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3506565" cy="6901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모델 목적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지표를 기반으로 미래 매출액을 예측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Expected Loss를 산출하긴 위한 모델 구축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입력 피처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수치형(로그 변환) → 왜도 완화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</a:p>
            <a:p>
              <a:pPr algn="just">
                <a:lnSpc>
                  <a:spcPts val="2940"/>
                </a:lnSpc>
              </a:pP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패턴 기반 cluster_id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40187" y="2951271"/>
              <a:ext cx="9195649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-1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 / Frequency / Monetary / Diversity / Focus / intensity / freq_per_recency / freq_per_div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525590" y="3839370"/>
            <a:ext cx="8252326" cy="295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전처리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수치형: 중앙값 대체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범주형: 최빈값 대체 + One-Hot Encoding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학습 전략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5-Fold Cross Validation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OOf (Out-Of-Fold) 예측/ 데이터 누수 없는 전 고객 확률 산출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점수를 실제 매출 금액으로 변환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877470"/>
            <a:ext cx="10129924" cy="5147831"/>
            <a:chOff x="0" y="0"/>
            <a:chExt cx="13506565" cy="686377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3506565" cy="6901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모델 목적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지표를 기반으로 미래 매출액을 예측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Expected Loss를 산출하긴 위한 모델 구축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입력 피처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수치형(로그 변환) → 왜도 완화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</a:p>
            <a:p>
              <a:pPr algn="just">
                <a:lnSpc>
                  <a:spcPts val="2940"/>
                </a:lnSpc>
              </a:pP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</a:t>
              </a:r>
            </a:p>
            <a:p>
              <a:pPr algn="just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고객 행동 패턴 기반 cluster_id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40187" y="2951271"/>
              <a:ext cx="9195649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pc="-1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Recency / Frequency / Monetary / Diversity / Focus / intensity / freq_per_recency / freq_per_div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 SHAP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18119"/>
            <a:ext cx="5558917" cy="433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SHAP Summary Plot 해석 (방향성)</a:t>
            </a:r>
          </a:p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x축 SHAP 값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+ : 이탈 확률 증가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− : 이탈 확률 감소</a:t>
            </a:r>
          </a:p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색상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빨강 : 피처 값 높음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파랑 : 피처 값 낮음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frequency, dicersity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↑ → 미래 매출 영향 큼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frequency ↑, recency ↓ → 이탈 가능성 증가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>
              <a:lnSpc>
                <a:spcPts val="2625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cluster_id는 보조적 역할 (주요 결정 요인은 아님)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11139" y="3595356"/>
            <a:ext cx="6711623" cy="5397154"/>
          </a:xfrm>
          <a:custGeom>
            <a:avLst/>
            <a:gdLst/>
            <a:ahLst/>
            <a:cxnLst/>
            <a:rect r="r" b="b" t="t" l="l"/>
            <a:pathLst>
              <a:path h="5397154" w="6711623">
                <a:moveTo>
                  <a:pt x="0" y="0"/>
                </a:moveTo>
                <a:lnTo>
                  <a:pt x="6711622" y="0"/>
                </a:lnTo>
                <a:lnTo>
                  <a:pt x="6711622" y="5397154"/>
                </a:lnTo>
                <a:lnTo>
                  <a:pt x="0" y="5397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 SHAP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845742"/>
            <a:ext cx="5508796" cy="2987040"/>
            <a:chOff x="0" y="0"/>
            <a:chExt cx="7345062" cy="39827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7345062" cy="3992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2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SHAP Importance </a:t>
              </a:r>
            </a:p>
            <a:p>
              <a:pPr algn="just" marL="453390" indent="-226695" lvl="1">
                <a:lnSpc>
                  <a:spcPts val="2625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모델 예측에 가장 크게 기여한 변수 순서</a:t>
              </a: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</a:p>
            <a:p>
              <a:pPr algn="just">
                <a:lnSpc>
                  <a:spcPts val="262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금액 + 빈도 / 다양성 중심 모델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6679" y="841251"/>
              <a:ext cx="4536033" cy="2150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monetary_6m_log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frequency_6m_log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diversity_6m_log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recency_6m_log</a:t>
              </a:r>
            </a:p>
            <a:p>
              <a:pPr algn="l" marL="453388" indent="-226694" lvl="1">
                <a:lnSpc>
                  <a:spcPts val="2624"/>
                </a:lnSpc>
                <a:buAutoNum type="arabicPeriod" startAt="1"/>
              </a:pPr>
              <a:r>
                <a:rPr lang="en-US" sz="20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intensity_6m_log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362926" y="3596326"/>
            <a:ext cx="6788613" cy="5671499"/>
          </a:xfrm>
          <a:custGeom>
            <a:avLst/>
            <a:gdLst/>
            <a:ahLst/>
            <a:cxnLst/>
            <a:rect r="r" b="b" t="t" l="l"/>
            <a:pathLst>
              <a:path h="5671499" w="6788613">
                <a:moveTo>
                  <a:pt x="0" y="0"/>
                </a:moveTo>
                <a:lnTo>
                  <a:pt x="6788613" y="0"/>
                </a:lnTo>
                <a:lnTo>
                  <a:pt x="6788613" y="5671499"/>
                </a:lnTo>
                <a:lnTo>
                  <a:pt x="0" y="567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 변수 제거 성능 평가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1828" y="4085004"/>
            <a:ext cx="7358781" cy="369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분석 가치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단순히 맞히는 성능이 아닌, 오차의 정밀도를 기준으로 피처 선별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과적합 제어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Early Stopping과 best_iters 고정을 통해, 특정 변수에만 유리하게 학습되는 현상을 방지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교차 검증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OOf (Out-Of-Fold) 예측/ 데이터 누수 없는 전 고객 확률 산출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877470"/>
            <a:ext cx="8866278" cy="4408024"/>
            <a:chOff x="0" y="0"/>
            <a:chExt cx="11821704" cy="587736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335847" y="3578265"/>
              <a:ext cx="9769005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수치형 : 중앙값 대체 + 로그 변환 (왜도 방지)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범주형 :</a:t>
              </a: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최빈값 대체 + One-Hot Encoding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35847" y="4919686"/>
              <a:ext cx="10953473" cy="957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검증 데이터 오차가 최소화되는 최적 트리 개수를 도출하여 모든 변수 실험이 동일하고 효율적인 조건에서 공정하게 이루어지도록 설정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497844"/>
              <a:ext cx="3214411" cy="4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AutoNum type="arabicPeriod" startAt="1"/>
              </a:pPr>
              <a:r>
                <a:rPr lang="en-US" sz="2100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100" spc="4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학습 기준점 고정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9050"/>
              <a:ext cx="11821704" cy="4554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목적</a:t>
              </a:r>
            </a:p>
            <a:p>
              <a:pPr algn="l" marL="453390" indent="-226695" lvl="1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기여도 기반 변수 선정</a:t>
              </a: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방법</a:t>
              </a:r>
            </a:p>
            <a:p>
              <a:pPr algn="l" marL="453390" indent="-226695" lvl="1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변수를 하나씩 제거했을 때 발생하는 오차의 변화를 측정하여 핵심 변수 선별</a:t>
              </a: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분석 프로세스 설계</a:t>
              </a:r>
            </a:p>
            <a:p>
              <a:pPr algn="l" marL="453390" indent="-226695" lvl="1">
                <a:lnSpc>
                  <a:spcPts val="2730"/>
                </a:lnSpc>
                <a:buAutoNum type="arabicPeriod" startAt="1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데이터 정교화 - 학습 및 검증 데이터 분포 동일하게 유지</a:t>
              </a:r>
            </a:p>
            <a:p>
              <a:pPr algn="l" marL="453390" indent="-226695" lvl="1">
                <a:lnSpc>
                  <a:spcPts val="2730"/>
                </a:lnSpc>
                <a:buAutoNum type="arabicPeriod" startAt="1"/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전처리 </a:t>
              </a:r>
            </a:p>
            <a:p>
              <a:pPr algn="l">
                <a:lnSpc>
                  <a:spcPts val="2730"/>
                </a:lnSpc>
              </a:pPr>
            </a:p>
            <a:p>
              <a:pPr algn="l">
                <a:lnSpc>
                  <a:spcPts val="2730"/>
                </a:lnSpc>
              </a:pP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322963" y="3801703"/>
            <a:ext cx="8249437" cy="4083471"/>
          </a:xfrm>
          <a:custGeom>
            <a:avLst/>
            <a:gdLst/>
            <a:ahLst/>
            <a:cxnLst/>
            <a:rect r="r" b="b" t="t" l="l"/>
            <a:pathLst>
              <a:path h="4083471" w="8249437">
                <a:moveTo>
                  <a:pt x="0" y="0"/>
                </a:moveTo>
                <a:lnTo>
                  <a:pt x="8249437" y="0"/>
                </a:lnTo>
                <a:lnTo>
                  <a:pt x="8249437" y="4083471"/>
                </a:lnTo>
                <a:lnTo>
                  <a:pt x="0" y="4083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 변수별 기여도 검증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88484"/>
            <a:ext cx="7640711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5"/>
              </a:lnSpc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핵심 분석 내용</a:t>
            </a: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오차 정밀도 기반의 피처 검증 : 단순 기여도가 아닌, 특정 변수 제거 시 발생하는 실제 오차 변화를 추적하여 모델의 핵심 동력을 식별</a:t>
            </a:r>
          </a:p>
          <a:p>
            <a:pPr algn="just">
              <a:lnSpc>
                <a:spcPts val="2625"/>
              </a:lnSpc>
            </a:pP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모델 상호 보완성 확인 : 특정 변수 누락에도 오차 변화가 0.0002 이내로 극소하게 유지됨 → 변수들이 서로의 정보를 보충하는 안정적인 다중 예측 구조를 갖췄음을 의미</a:t>
            </a:r>
          </a:p>
          <a:p>
            <a:pPr algn="just">
              <a:lnSpc>
                <a:spcPts val="2625"/>
              </a:lnSpc>
            </a:pPr>
          </a:p>
          <a:p>
            <a:pPr algn="just" marL="453390" indent="-226695" lvl="1">
              <a:lnSpc>
                <a:spcPts val="2625"/>
              </a:lnSpc>
              <a:buFont typeface="Arial"/>
              <a:buChar char="•"/>
            </a:pPr>
            <a:r>
              <a:rPr lang="en-US" sz="2100" spc="-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변수 제거 시 오차 변화 측정 결과 : 전 변수가 상호 보완하며 0.07 수준의 낮은 MAE를 견고하게 유지하고 있음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RMSE · MAE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973848" y="2919421"/>
            <a:ext cx="5873377" cy="3131339"/>
          </a:xfrm>
          <a:custGeom>
            <a:avLst/>
            <a:gdLst/>
            <a:ahLst/>
            <a:cxnLst/>
            <a:rect r="r" b="b" t="t" l="l"/>
            <a:pathLst>
              <a:path h="3131339" w="5873377">
                <a:moveTo>
                  <a:pt x="0" y="0"/>
                </a:moveTo>
                <a:lnTo>
                  <a:pt x="5873377" y="0"/>
                </a:lnTo>
                <a:lnTo>
                  <a:pt x="5873377" y="3131340"/>
                </a:lnTo>
                <a:lnTo>
                  <a:pt x="0" y="3131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73848" y="6050761"/>
            <a:ext cx="5873377" cy="3131339"/>
          </a:xfrm>
          <a:custGeom>
            <a:avLst/>
            <a:gdLst/>
            <a:ahLst/>
            <a:cxnLst/>
            <a:rect r="r" b="b" t="t" l="l"/>
            <a:pathLst>
              <a:path h="3131339" w="5873377">
                <a:moveTo>
                  <a:pt x="0" y="0"/>
                </a:moveTo>
                <a:lnTo>
                  <a:pt x="5873377" y="0"/>
                </a:lnTo>
                <a:lnTo>
                  <a:pt x="5873377" y="3131339"/>
                </a:lnTo>
                <a:lnTo>
                  <a:pt x="0" y="3131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839370"/>
            <a:ext cx="8511159" cy="481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목적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실제로 중요한 고객 (상위 30%)에서 어떤 모델이 더 정확한지 확인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기준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실제 미래 매출 상위 30% 고객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동일한 데이터·조건에서 Baseline(선형 회귀) vs Model(LGBM 회귀)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두 그래프 모두에서 Model 막대가 Baseline보다 낮음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고가치 고객 구간에서는 두 모델의 오차 차이가 크지 않지만, LGBM은 성능을 유지하면서 </a:t>
            </a: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비선형 패턴 설명과 Expected Loss 기반 타겟팅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에 유리한 구조 제공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960293" y="3510601"/>
            <a:ext cx="7897974" cy="4898744"/>
          </a:xfrm>
          <a:custGeom>
            <a:avLst/>
            <a:gdLst/>
            <a:ahLst/>
            <a:cxnLst/>
            <a:rect r="r" b="b" t="t" l="l"/>
            <a:pathLst>
              <a:path h="4898744" w="7897974">
                <a:moveTo>
                  <a:pt x="0" y="0"/>
                </a:moveTo>
                <a:lnTo>
                  <a:pt x="7897974" y="0"/>
                </a:lnTo>
                <a:lnTo>
                  <a:pt x="7897974" y="4898743"/>
                </a:lnTo>
                <a:lnTo>
                  <a:pt x="0" y="4898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0318"/>
            <a:ext cx="8761652" cy="43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기대 손실 예측 정밀도 검증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839370"/>
            <a:ext cx="9001497" cy="33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Train · Valid RMSE 학습 곡선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5-Fold 교차 검증의 Train/Valid RMSE를 평균±표준편차로 시각화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GBM 회귀 모델이 과적합 없이 일반화 가능 여부 확인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Train · Valid RMSE가 함께 감소 후 안정적으로 수렴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두 곡선 간 간격이 작고 변동성 (±Std)낮음 → 과적합 없음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Fold 별 최적 반복 수의 중앙값 (≈149)이후 성능 개선 미미 → 안정적 종료 지점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39370"/>
            <a:ext cx="8587461" cy="33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LGBM 회귀 모델의 예측 오차 분포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일부 고객만 큰 오차를 만드는지, 전반적으로 안정적인지 점검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5-Fold OOF 예측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실제 값과 예측값의 절대 오차 분포 로그 스케일 후 시각화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분포가 오른쪽으로 긴 꼬리 → 소수의 고액 소비 고객에서만 큰 오차 발생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대부분의 고객은 작은 오차 구간에 밀집</a:t>
            </a:r>
          </a:p>
          <a:p>
            <a:pPr algn="l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대다수 고객에 대해서는 안정적인 예측 성능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83044" y="3665055"/>
            <a:ext cx="8224874" cy="5101504"/>
          </a:xfrm>
          <a:custGeom>
            <a:avLst/>
            <a:gdLst/>
            <a:ahLst/>
            <a:cxnLst/>
            <a:rect r="r" b="b" t="t" l="l"/>
            <a:pathLst>
              <a:path h="5101504" w="8224874">
                <a:moveTo>
                  <a:pt x="0" y="0"/>
                </a:moveTo>
                <a:lnTo>
                  <a:pt x="8224874" y="0"/>
                </a:lnTo>
                <a:lnTo>
                  <a:pt x="8224874" y="5101505"/>
                </a:lnTo>
                <a:lnTo>
                  <a:pt x="0" y="5101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Recall Curve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39370"/>
            <a:ext cx="8511159" cy="258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 Cureve : 모델이 실제 정답 중 얼마나 많은 비율을 놓치지 않고 잡아냈는지를 임계값 변화에 따라 보여주는 성적표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결과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→ Recall ≈ 56%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30%만 관리해도 성과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고객의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절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반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이상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확보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661517" y="3308487"/>
            <a:ext cx="4275798" cy="5949813"/>
          </a:xfrm>
          <a:custGeom>
            <a:avLst/>
            <a:gdLst/>
            <a:ahLst/>
            <a:cxnLst/>
            <a:rect r="r" b="b" t="t" l="l"/>
            <a:pathLst>
              <a:path h="5949813" w="4275798">
                <a:moveTo>
                  <a:pt x="0" y="0"/>
                </a:moveTo>
                <a:lnTo>
                  <a:pt x="4275798" y="0"/>
                </a:lnTo>
                <a:lnTo>
                  <a:pt x="4275798" y="5949813"/>
                </a:lnTo>
                <a:lnTo>
                  <a:pt x="0" y="5949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470898"/>
            <a:ext cx="791460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대시보드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3309834"/>
            <a:ext cx="8691725" cy="5834320"/>
          </a:xfrm>
          <a:custGeom>
            <a:avLst/>
            <a:gdLst/>
            <a:ahLst/>
            <a:cxnLst/>
            <a:rect r="r" b="b" t="t" l="l"/>
            <a:pathLst>
              <a:path h="5834320" w="8691725">
                <a:moveTo>
                  <a:pt x="0" y="0"/>
                </a:moveTo>
                <a:lnTo>
                  <a:pt x="8691725" y="0"/>
                </a:lnTo>
                <a:lnTo>
                  <a:pt x="8691725" y="5834321"/>
                </a:lnTo>
                <a:lnTo>
                  <a:pt x="0" y="5834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739" y="5653726"/>
            <a:ext cx="3922633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상위 고객의 전체 상태</a:t>
            </a:r>
          </a:p>
          <a:p>
            <a:pPr algn="l">
              <a:lnSpc>
                <a:spcPts val="2940"/>
              </a:lnSpc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상위 고객군 내부의 구조적 차이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평균값에 가려진 위험 구간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4101151"/>
            <a:ext cx="435528" cy="2000050"/>
            <a:chOff x="0" y="0"/>
            <a:chExt cx="580704" cy="266673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80704" cy="660552"/>
              <a:chOff x="0" y="0"/>
              <a:chExt cx="92178" cy="10485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2006181"/>
              <a:ext cx="580704" cy="660552"/>
              <a:chOff x="0" y="0"/>
              <a:chExt cx="92178" cy="10485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</a:t>
                </a: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028700" y="2363458"/>
            <a:ext cx="9298628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Summary </a:t>
            </a:r>
          </a:p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핵심 고객 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3790" y="4160945"/>
            <a:ext cx="7500647" cy="147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목적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핵심 고객을 대상으로  화면에서 비교·탐색·판단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827749" y="5653726"/>
            <a:ext cx="6841663" cy="295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핵심 고객 규모와 평균 이탈·구매·리스크 수준을 파악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동일한 Top 30%라도 충성 / 일반 / VIP 클러스터 별로 행동과 리스크 분포가 상이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분포 시각화를 통해 특정 구간에 이탈·리스크 고객이 집중되어 있음을 확인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3308394"/>
            <a:ext cx="8691725" cy="5835760"/>
          </a:xfrm>
          <a:custGeom>
            <a:avLst/>
            <a:gdLst/>
            <a:ahLst/>
            <a:cxnLst/>
            <a:rect r="r" b="b" t="t" l="l"/>
            <a:pathLst>
              <a:path h="5835760" w="8691725">
                <a:moveTo>
                  <a:pt x="0" y="0"/>
                </a:moveTo>
                <a:lnTo>
                  <a:pt x="8691725" y="0"/>
                </a:lnTo>
                <a:lnTo>
                  <a:pt x="8691725" y="5835761"/>
                </a:lnTo>
                <a:lnTo>
                  <a:pt x="0" y="5835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" t="0" r="-1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3308394"/>
            <a:ext cx="8691725" cy="5834320"/>
          </a:xfrm>
          <a:custGeom>
            <a:avLst/>
            <a:gdLst/>
            <a:ahLst/>
            <a:cxnLst/>
            <a:rect r="r" b="b" t="t" l="l"/>
            <a:pathLst>
              <a:path h="5834320" w="8691725">
                <a:moveTo>
                  <a:pt x="0" y="0"/>
                </a:moveTo>
                <a:lnTo>
                  <a:pt x="8691725" y="0"/>
                </a:lnTo>
                <a:lnTo>
                  <a:pt x="8691725" y="5834321"/>
                </a:lnTo>
                <a:lnTo>
                  <a:pt x="0" y="5834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70898"/>
            <a:ext cx="7914603" cy="8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대시보드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363458"/>
            <a:ext cx="9298628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Summary </a:t>
            </a:r>
          </a:p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클러스터별 고객 프로파일링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4101151"/>
            <a:ext cx="435528" cy="2000050"/>
            <a:chOff x="0" y="0"/>
            <a:chExt cx="580704" cy="266673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80704" cy="660552"/>
              <a:chOff x="0" y="0"/>
              <a:chExt cx="92178" cy="10485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006181"/>
              <a:ext cx="580704" cy="660552"/>
              <a:chOff x="0" y="0"/>
              <a:chExt cx="92178" cy="10485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</a:t>
                </a: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361786" y="5653726"/>
            <a:ext cx="4504134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클러스터별 연령대 구성 차이</a:t>
            </a:r>
          </a:p>
          <a:p>
            <a:pPr algn="l">
              <a:lnSpc>
                <a:spcPts val="2940"/>
              </a:lnSpc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구매 채널 성향 (Online vs Offline)</a:t>
            </a:r>
          </a:p>
          <a:p>
            <a:pPr algn="l">
              <a:lnSpc>
                <a:spcPts val="2940"/>
              </a:lnSpc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회원 상태 분포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카테고리별 구매 패턴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3790" y="4160945"/>
            <a:ext cx="729995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목적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클러스터 구매 채널, 회원 상태, 선호 상품을 비교·이해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827749" y="5653726"/>
            <a:ext cx="7316251" cy="33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특정 클러스터가 젊은 고객 중심인지, 성숙 고객 중심인지 파악 가능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온라인/오프라인 구매 비중 차이로 채널 중심 전략 수립 가능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ACTIVE / PRE-CREATE / NON_MEMBER 비중을 통해 고객 관계 단계 파악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클러스터별 핵심 소비 카테고리 식별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대시보드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3308394"/>
            <a:ext cx="8691725" cy="5834320"/>
          </a:xfrm>
          <a:custGeom>
            <a:avLst/>
            <a:gdLst/>
            <a:ahLst/>
            <a:cxnLst/>
            <a:rect r="r" b="b" t="t" l="l"/>
            <a:pathLst>
              <a:path h="5834320" w="8691725">
                <a:moveTo>
                  <a:pt x="0" y="0"/>
                </a:moveTo>
                <a:lnTo>
                  <a:pt x="8691725" y="0"/>
                </a:lnTo>
                <a:lnTo>
                  <a:pt x="8691725" y="5834321"/>
                </a:lnTo>
                <a:lnTo>
                  <a:pt x="0" y="5834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4101151"/>
            <a:ext cx="435528" cy="2000050"/>
            <a:chOff x="0" y="0"/>
            <a:chExt cx="580704" cy="266673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80704" cy="660552"/>
              <a:chOff x="0" y="0"/>
              <a:chExt cx="92178" cy="10485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2006181"/>
              <a:ext cx="580704" cy="660552"/>
              <a:chOff x="0" y="0"/>
              <a:chExt cx="92178" cy="10485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2178" cy="104853"/>
              </a:xfrm>
              <a:custGeom>
                <a:avLst/>
                <a:gdLst/>
                <a:ahLst/>
                <a:cxnLst/>
                <a:rect r="r" b="b" t="t" l="l"/>
                <a:pathLst>
                  <a:path h="104853" w="92178">
                    <a:moveTo>
                      <a:pt x="0" y="0"/>
                    </a:moveTo>
                    <a:lnTo>
                      <a:pt x="92178" y="0"/>
                    </a:lnTo>
                    <a:lnTo>
                      <a:pt x="92178" y="104853"/>
                    </a:lnTo>
                    <a:lnTo>
                      <a:pt x="0" y="104853"/>
                    </a:lnTo>
                    <a:close/>
                  </a:path>
                </a:pathLst>
              </a:custGeom>
              <a:solidFill>
                <a:srgbClr val="79140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2178" cy="1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</a:t>
                </a: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1370646" y="5663377"/>
            <a:ext cx="2871311" cy="33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개별 고객의 핵심 속성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고객별 핵심 구매 특성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클러스터 소속 정보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고객 간 비교 및 탐색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53790" y="4160945"/>
            <a:ext cx="759021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목적</a:t>
            </a:r>
          </a:p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앞선 대시보드에서 분석한 Top 30% 핵심 고객 정보 페이지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9544" y="5663377"/>
            <a:ext cx="7375111" cy="33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연령대, 회원 상태, 구매 횟수, 구매 상품 수, 온라인/오프라인 구매 비중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주요 구매 카테고리(Top Product Group) 구매 집중도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앞선 페이지의 군집 분석 결과를 고객 단위로 연결 가능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id 검색을 통해 특정 고객을 조회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363458"/>
            <a:ext cx="9298628" cy="9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Summary </a:t>
            </a:r>
          </a:p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 30% 고객 상세 정보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758441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9267825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30249" y="854698"/>
            <a:ext cx="1421291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2A2D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02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19050">
            <a:solidFill>
              <a:srgbClr val="2929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2432334" y="-5032175"/>
            <a:ext cx="26316990" cy="7261950"/>
            <a:chOff x="0" y="0"/>
            <a:chExt cx="35089320" cy="96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1"/>
                  </a:lnTo>
                  <a:lnTo>
                    <a:pt x="0" y="923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4" r="0" b="-379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04097" y="444140"/>
              <a:ext cx="19585223" cy="9238461"/>
            </a:xfrm>
            <a:custGeom>
              <a:avLst/>
              <a:gdLst/>
              <a:ahLst/>
              <a:cxnLst/>
              <a:rect r="r" b="b" t="t" l="l"/>
              <a:pathLst>
                <a:path h="9238461" w="19585223">
                  <a:moveTo>
                    <a:pt x="0" y="0"/>
                  </a:moveTo>
                  <a:lnTo>
                    <a:pt x="19585223" y="0"/>
                  </a:lnTo>
                  <a:lnTo>
                    <a:pt x="19585223" y="9238460"/>
                  </a:lnTo>
                  <a:lnTo>
                    <a:pt x="0" y="92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94" r="0" b="-379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3510601"/>
            <a:ext cx="7640711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70898"/>
            <a:ext cx="7914603" cy="8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1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인사이트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870318"/>
            <a:ext cx="8761652" cy="43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전략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44195"/>
            <a:ext cx="16587203" cy="435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 Cureve를 통해 고객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30%만 관리해도 성과 고객의 절반 이상 확보라는 결과를 얻음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VIP 고객 : 현재 상태만 유지 &amp; 이탈 방지 → 구매 시 5% 수준의 최소 혜택으로 관계 유지 중심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충성 고객 : 구매 후 2주 이내 재구매 유도 → 7~15% 쿠폰으로 구매 리듬 강화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일반 고객 : 구매 주기가 상대적으로 김 → 1개월 이내 재구매 시 5~10% 쿠폰으로 재방문 유도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쿠폰 비용이 발생하더라도, 무작위 타겟팅 대비 이탈 가능성과 미래 가치를 함께 고려한 선별 전략은 매출 유지 및 회복 측면에서 더 효율적인 </a:t>
            </a: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고객 유치 방식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으로 판단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4177" y="0"/>
            <a:ext cx="6803823" cy="10287000"/>
            <a:chOff x="0" y="0"/>
            <a:chExt cx="179195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1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91953">
                  <a:moveTo>
                    <a:pt x="0" y="0"/>
                  </a:moveTo>
                  <a:lnTo>
                    <a:pt x="1791953" y="0"/>
                  </a:lnTo>
                  <a:lnTo>
                    <a:pt x="1791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140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9195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84177" y="0"/>
            <a:ext cx="10287000" cy="10287000"/>
            <a:chOff x="0" y="0"/>
            <a:chExt cx="1371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85800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858000" y="685800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275" y="3649608"/>
            <a:ext cx="8115300" cy="133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</a:pPr>
            <a:r>
              <a:rPr lang="en-US" b="true" sz="10000" spc="-300">
                <a:solidFill>
                  <a:srgbClr val="791401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The End.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291275" y="2631466"/>
            <a:ext cx="8969307" cy="0"/>
          </a:xfrm>
          <a:prstGeom prst="line">
            <a:avLst/>
          </a:prstGeom>
          <a:ln cap="flat" w="76200">
            <a:solidFill>
              <a:srgbClr val="7914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291275" y="50191"/>
            <a:ext cx="5743335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0"/>
              </a:lnSpc>
              <a:spcBef>
                <a:spcPct val="0"/>
              </a:spcBef>
            </a:pPr>
            <a:r>
              <a:rPr lang="en-US" sz="15000" spc="-450">
                <a:solidFill>
                  <a:srgbClr val="791401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H&amp;m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8441" y="1210635"/>
            <a:ext cx="9582933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pc="-209">
                <a:solidFill>
                  <a:srgbClr val="2A2D2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Fashion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23456">
            <a:off x="11707735" y="2390039"/>
            <a:ext cx="7429330" cy="8229600"/>
          </a:xfrm>
          <a:custGeom>
            <a:avLst/>
            <a:gdLst/>
            <a:ahLst/>
            <a:cxnLst/>
            <a:rect r="r" b="b" t="t" l="l"/>
            <a:pathLst>
              <a:path h="8229600" w="7429330">
                <a:moveTo>
                  <a:pt x="0" y="0"/>
                </a:moveTo>
                <a:lnTo>
                  <a:pt x="7429329" y="0"/>
                </a:lnTo>
                <a:lnTo>
                  <a:pt x="74293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999"/>
            </a:blip>
            <a:stretch>
              <a:fillRect l="-251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DAG9JD-_arw</dc:identifier>
  <dcterms:modified xsi:type="dcterms:W3CDTF">2011-08-01T06:04:30Z</dcterms:modified>
  <cp:revision>1</cp:revision>
  <dc:title>H&amp;M 마케팅</dc:title>
</cp:coreProperties>
</file>